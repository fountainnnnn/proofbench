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15974" cy="41148"/>
          </a:xfrm>
          <a:prstGeom prst="rect">
            <a:avLst/>
          </a:prstGeom>
          <a:solidFill>
            <a:srgbClr val="3B5B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647395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545861"/>
                </a:solidFill>
                <a:latin typeface="Inter"/>
              </a:rPr>
              <a:t>ProofBench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78847" y="6473952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82868E"/>
                </a:solidFill>
                <a:latin typeface="Consolas"/>
              </a:rPr>
              <a:t>01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783080"/>
            <a:ext cx="100584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800" b="1" spc="-320">
                <a:solidFill>
                  <a:srgbClr val="1A1F29"/>
                </a:solidFill>
                <a:latin typeface="Inter"/>
              </a:rPr>
              <a:t>ProofBench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3429000"/>
            <a:ext cx="87782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>
                <a:solidFill>
                  <a:srgbClr val="1A1F29"/>
                </a:solidFill>
                <a:latin typeface="Inter"/>
              </a:rPr>
              <a:t>Agentic benchmarking of document-extraction tools. </a:t>
            </a:r>
            <a:r>
              <a:rPr sz="2200" b="0">
                <a:solidFill>
                  <a:srgbClr val="545861"/>
                </a:solidFill>
                <a:latin typeface="Inter"/>
              </a:rPr>
              <a:t>Built from their own docs, run in parallel sandboxes, scored deterministically against your ground truth.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5074920"/>
            <a:ext cx="1050919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82868E"/>
                </a:solidFill>
                <a:latin typeface="Inter"/>
              </a:rPr>
              <a:t>Daytona        </a:t>
            </a:r>
            <a:r>
              <a:rPr sz="1300" b="0">
                <a:solidFill>
                  <a:srgbClr val="82868E"/>
                </a:solidFill>
                <a:latin typeface="Inter"/>
              </a:rPr>
              <a:t>Kimi        </a:t>
            </a:r>
            <a:r>
              <a:rPr sz="1300" b="0">
                <a:solidFill>
                  <a:srgbClr val="82868E"/>
                </a:solidFill>
                <a:latin typeface="Inter"/>
              </a:rPr>
              <a:t>Oxylabs        </a:t>
            </a:r>
            <a:r>
              <a:rPr sz="1300" b="0">
                <a:solidFill>
                  <a:srgbClr val="82868E"/>
                </a:solidFill>
                <a:latin typeface="Inter"/>
              </a:rPr>
              <a:t>Doubleword        </a:t>
            </a:r>
            <a:r>
              <a:rPr sz="1300" b="0">
                <a:solidFill>
                  <a:srgbClr val="82868E"/>
                </a:solidFill>
                <a:latin typeface="Inter"/>
              </a:rPr>
              <a:t>Nosana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31949" cy="41148"/>
          </a:xfrm>
          <a:prstGeom prst="rect">
            <a:avLst/>
          </a:prstGeom>
          <a:solidFill>
            <a:srgbClr val="3B5B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647395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545861"/>
                </a:solidFill>
                <a:latin typeface="Inter"/>
              </a:rPr>
              <a:t>ProofBench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78847" y="6473952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82868E"/>
                </a:solidFill>
                <a:latin typeface="Consolas"/>
              </a:rPr>
              <a:t>02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777240"/>
            <a:ext cx="10509199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4000" b="1" spc="-60">
                <a:solidFill>
                  <a:srgbClr val="1A1F29"/>
                </a:solidFill>
                <a:latin typeface="Inter"/>
              </a:rPr>
              <a:t>Picking an extraction tool is still a guess.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2468880"/>
            <a:ext cx="10509199" cy="10972"/>
          </a:xfrm>
          <a:prstGeom prst="rect">
            <a:avLst/>
          </a:prstGeom>
          <a:solidFill>
            <a:srgbClr val="DDE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633472"/>
            <a:ext cx="5669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3B5BD4"/>
                </a:solidFill>
                <a:latin typeface="Consola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18488" y="2596896"/>
            <a:ext cx="9731959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850" b="1">
                <a:solidFill>
                  <a:srgbClr val="1A1F29"/>
                </a:solidFill>
                <a:latin typeface="Inter"/>
              </a:rPr>
              <a:t>Marketing over measurement.</a:t>
            </a:r>
          </a:p>
          <a:p>
            <a:pPr algn="l">
              <a:lnSpc>
                <a:spcPct val="115000"/>
              </a:lnSpc>
            </a:pPr>
            <a:r>
              <a:rPr sz="1600" b="0">
                <a:solidFill>
                  <a:srgbClr val="545861"/>
                </a:solidFill>
                <a:latin typeface="Inter"/>
              </a:rPr>
              <a:t>Every vendor page claims best-in-class accuracy. None of them show numbers on your documents.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1248" y="3703320"/>
            <a:ext cx="10509199" cy="10972"/>
          </a:xfrm>
          <a:prstGeom prst="rect">
            <a:avLst/>
          </a:prstGeom>
          <a:solidFill>
            <a:srgbClr val="DDE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3867912"/>
            <a:ext cx="5669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3B5BD4"/>
                </a:solidFill>
                <a:latin typeface="Consola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18488" y="3831336"/>
            <a:ext cx="9731959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850" b="1">
                <a:solidFill>
                  <a:srgbClr val="1A1F29"/>
                </a:solidFill>
                <a:latin typeface="Inter"/>
              </a:rPr>
              <a:t>Public benchmarks do not transfer.</a:t>
            </a:r>
          </a:p>
          <a:p>
            <a:pPr algn="l">
              <a:lnSpc>
                <a:spcPct val="115000"/>
              </a:lnSpc>
            </a:pPr>
            <a:r>
              <a:rPr sz="1600" b="0">
                <a:solidFill>
                  <a:srgbClr val="545861"/>
                </a:solidFill>
                <a:latin typeface="Inter"/>
              </a:rPr>
              <a:t>Leaderboards run on generic datasets. Your invoice layout is not in them.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1248" y="4937760"/>
            <a:ext cx="10509199" cy="10972"/>
          </a:xfrm>
          <a:prstGeom prst="rect">
            <a:avLst/>
          </a:prstGeom>
          <a:solidFill>
            <a:srgbClr val="DDE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5102352"/>
            <a:ext cx="5669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3B5BD4"/>
                </a:solidFill>
                <a:latin typeface="Consola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18488" y="5065776"/>
            <a:ext cx="9731959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850" b="1">
                <a:solidFill>
                  <a:srgbClr val="1A1F29"/>
                </a:solidFill>
                <a:latin typeface="Inter"/>
              </a:rPr>
              <a:t>A real eval costs a week.</a:t>
            </a:r>
          </a:p>
          <a:p>
            <a:pPr algn="l">
              <a:lnSpc>
                <a:spcPct val="115000"/>
              </a:lnSpc>
            </a:pPr>
            <a:r>
              <a:rPr sz="1600" b="0">
                <a:solidFill>
                  <a:srgbClr val="545861"/>
                </a:solidFill>
                <a:latin typeface="Inter"/>
              </a:rPr>
              <a:t>Every team hand-builds the same integrations, reruns the same harness, then argues about how to score it.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1248" y="6172200"/>
            <a:ext cx="10509199" cy="10972"/>
          </a:xfrm>
          <a:prstGeom prst="rect">
            <a:avLst/>
          </a:prstGeom>
          <a:solidFill>
            <a:srgbClr val="DDE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47923" cy="41148"/>
          </a:xfrm>
          <a:prstGeom prst="rect">
            <a:avLst/>
          </a:prstGeom>
          <a:solidFill>
            <a:srgbClr val="3B5B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647395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545861"/>
                </a:solidFill>
                <a:latin typeface="Inter"/>
              </a:rPr>
              <a:t>ProofBench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78847" y="6473952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82868E"/>
                </a:solidFill>
                <a:latin typeface="Consolas"/>
              </a:rPr>
              <a:t>03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325880"/>
            <a:ext cx="10424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500" b="0">
                <a:solidFill>
                  <a:srgbClr val="545861"/>
                </a:solidFill>
                <a:latin typeface="Inter"/>
              </a:rPr>
              <a:t>Document extraction sits inside real pipelines: invoices, receipts, claims, forms.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2606040"/>
            <a:ext cx="96926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400" b="1">
                <a:solidFill>
                  <a:srgbClr val="1A1F29"/>
                </a:solidFill>
                <a:latin typeface="Inter"/>
              </a:rPr>
              <a:t>A few points of accuracy become manual review hours. Latency and cost per 1,000 docs decide what ships.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4572000"/>
            <a:ext cx="102412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 spc="-40">
                <a:solidFill>
                  <a:srgbClr val="3B5BD4"/>
                </a:solidFill>
                <a:latin typeface="Inter"/>
              </a:rPr>
              <a:t>The wrong pick compounds. Teams still choose on vibes.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8" cy="41148"/>
          </a:xfrm>
          <a:prstGeom prst="rect">
            <a:avLst/>
          </a:prstGeom>
          <a:solidFill>
            <a:srgbClr val="3B5B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647395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545861"/>
                </a:solidFill>
                <a:latin typeface="Inter"/>
              </a:rPr>
              <a:t>ProofBench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78847" y="6473952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82868E"/>
                </a:solidFill>
                <a:latin typeface="Consolas"/>
              </a:rPr>
              <a:t>04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777240"/>
            <a:ext cx="10509199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4000" b="1" spc="-60">
                <a:solidFill>
                  <a:srgbClr val="1A1F29"/>
                </a:solidFill>
                <a:latin typeface="Inter"/>
              </a:rPr>
              <a:t>Point it at a category and your labelled dataset.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1965960"/>
            <a:ext cx="102412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545861"/>
                </a:solidFill>
                <a:latin typeface="Inter"/>
              </a:rPr>
              <a:t>ProofBench returns a </a:t>
            </a:r>
            <a:r>
              <a:rPr sz="2000" b="1">
                <a:solidFill>
                  <a:srgbClr val="1A1F29"/>
                </a:solidFill>
                <a:latin typeface="Inter"/>
              </a:rPr>
              <a:t>ranked, citation-backed verdict</a:t>
            </a:r>
            <a:r>
              <a:rPr sz="2000" b="0">
                <a:solidFill>
                  <a:srgbClr val="545861"/>
                </a:solidFill>
                <a:latin typeface="Inter"/>
              </a:rPr>
              <a:t> on which tool actually performs best on your documents. No LLM ever judges correctness; the LLM only does logistics.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3794760"/>
            <a:ext cx="1717791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>
                <a:solidFill>
                  <a:srgbClr val="3B5BD4"/>
                </a:solidFill>
                <a:latin typeface="Consolas"/>
              </a:rPr>
              <a:t>1</a:t>
            </a:r>
          </a:p>
          <a:p>
            <a:pPr algn="l">
              <a:spcAft>
                <a:spcPts val="600"/>
              </a:spcAft>
            </a:pPr>
            <a:r>
              <a:rPr sz="1850" b="1">
                <a:solidFill>
                  <a:srgbClr val="1A1F29"/>
                </a:solidFill>
                <a:latin typeface="Inter"/>
              </a:rPr>
              <a:t>Discover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300" b="0">
                <a:solidFill>
                  <a:srgbClr val="545861"/>
                </a:solidFill>
                <a:latin typeface="Inter"/>
              </a:rPr>
              <a:t>Search for candidate tools in the category.</a:t>
            </a:r>
          </a:p>
          <a:p>
            <a:pPr algn="l"/>
            <a:r>
              <a:rPr sz="1100" b="0">
                <a:solidFill>
                  <a:srgbClr val="82868E"/>
                </a:solidFill>
                <a:latin typeface="Consolas"/>
              </a:rPr>
              <a:t>Kimi Â· Oxylabs</a:t>
            </a:r>
          </a:p>
        </p:txBody>
      </p:sp>
      <p:sp>
        <p:nvSpPr>
          <p:cNvPr id="9" name="Rectangle 8"/>
          <p:cNvSpPr/>
          <p:nvPr/>
        </p:nvSpPr>
        <p:spPr>
          <a:xfrm>
            <a:off x="2943087" y="3840480"/>
            <a:ext cx="10972" cy="1828800"/>
          </a:xfrm>
          <a:prstGeom prst="rect">
            <a:avLst/>
          </a:prstGeom>
          <a:solidFill>
            <a:srgbClr val="DDE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99119" y="3794760"/>
            <a:ext cx="1717791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>
                <a:solidFill>
                  <a:srgbClr val="3B5BD4"/>
                </a:solidFill>
                <a:latin typeface="Consolas"/>
              </a:rPr>
              <a:t>2</a:t>
            </a:r>
          </a:p>
          <a:p>
            <a:pPr algn="l">
              <a:spcAft>
                <a:spcPts val="600"/>
              </a:spcAft>
            </a:pPr>
            <a:r>
              <a:rPr sz="1850" b="1">
                <a:solidFill>
                  <a:srgbClr val="1A1F29"/>
                </a:solidFill>
                <a:latin typeface="Inter"/>
              </a:rPr>
              <a:t>Read the docs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300" b="0">
                <a:solidFill>
                  <a:srgbClr val="545861"/>
                </a:solidFill>
                <a:latin typeface="Inter"/>
              </a:rPr>
              <a:t>Scrape documentation and pricing pages.</a:t>
            </a:r>
          </a:p>
          <a:p>
            <a:pPr algn="l"/>
            <a:r>
              <a:rPr sz="1100" b="0">
                <a:solidFill>
                  <a:srgbClr val="82868E"/>
                </a:solidFill>
                <a:latin typeface="Consolas"/>
              </a:rPr>
              <a:t>Oxylabs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44927" y="3840480"/>
            <a:ext cx="10972" cy="1828800"/>
          </a:xfrm>
          <a:prstGeom prst="rect">
            <a:avLst/>
          </a:prstGeom>
          <a:solidFill>
            <a:srgbClr val="DDE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0959" y="3794760"/>
            <a:ext cx="1717791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>
                <a:solidFill>
                  <a:srgbClr val="3B5BD4"/>
                </a:solidFill>
                <a:latin typeface="Consolas"/>
              </a:rPr>
              <a:t>3</a:t>
            </a:r>
          </a:p>
          <a:p>
            <a:pPr algn="l">
              <a:spcAft>
                <a:spcPts val="600"/>
              </a:spcAft>
            </a:pPr>
            <a:r>
              <a:rPr sz="1850" b="1">
                <a:solidFill>
                  <a:srgbClr val="1A1F29"/>
                </a:solidFill>
                <a:latin typeface="Inter"/>
              </a:rPr>
              <a:t>Integrate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300" b="0">
                <a:solidFill>
                  <a:srgbClr val="545861"/>
                </a:solidFill>
                <a:latin typeface="Inter"/>
              </a:rPr>
              <a:t>Generate a working adapter per tool, from its own docs.</a:t>
            </a:r>
          </a:p>
          <a:p>
            <a:pPr algn="l"/>
            <a:r>
              <a:rPr sz="1100" b="0">
                <a:solidFill>
                  <a:srgbClr val="82868E"/>
                </a:solidFill>
                <a:latin typeface="Consolas"/>
              </a:rPr>
              <a:t>Doubleword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46767" y="3840480"/>
            <a:ext cx="10972" cy="1828800"/>
          </a:xfrm>
          <a:prstGeom prst="rect">
            <a:avLst/>
          </a:prstGeom>
          <a:solidFill>
            <a:srgbClr val="DDE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02799" y="3794760"/>
            <a:ext cx="1717791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>
                <a:solidFill>
                  <a:srgbClr val="3B5BD4"/>
                </a:solidFill>
                <a:latin typeface="Consolas"/>
              </a:rPr>
              <a:t>4</a:t>
            </a:r>
          </a:p>
          <a:p>
            <a:pPr algn="l">
              <a:spcAft>
                <a:spcPts val="600"/>
              </a:spcAft>
            </a:pPr>
            <a:r>
              <a:rPr sz="1850" b="1">
                <a:solidFill>
                  <a:srgbClr val="1A1F29"/>
                </a:solidFill>
                <a:latin typeface="Inter"/>
              </a:rPr>
              <a:t>Run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300" b="0">
                <a:solidFill>
                  <a:srgbClr val="545861"/>
                </a:solidFill>
                <a:latin typeface="Inter"/>
              </a:rPr>
              <a:t>Build and execute every candidate in parallel.</a:t>
            </a:r>
          </a:p>
          <a:p>
            <a:pPr algn="l"/>
            <a:r>
              <a:rPr sz="1100" b="0">
                <a:solidFill>
                  <a:srgbClr val="82868E"/>
                </a:solidFill>
                <a:latin typeface="Consolas"/>
              </a:rPr>
              <a:t>Daytona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248607" y="3840480"/>
            <a:ext cx="10972" cy="1828800"/>
          </a:xfrm>
          <a:prstGeom prst="rect">
            <a:avLst/>
          </a:prstGeom>
          <a:solidFill>
            <a:srgbClr val="DDE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04639" y="3794760"/>
            <a:ext cx="1717791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>
                <a:solidFill>
                  <a:srgbClr val="3B5BD4"/>
                </a:solidFill>
                <a:latin typeface="Consolas"/>
              </a:rPr>
              <a:t>5</a:t>
            </a:r>
          </a:p>
          <a:p>
            <a:pPr algn="l">
              <a:spcAft>
                <a:spcPts val="600"/>
              </a:spcAft>
            </a:pPr>
            <a:r>
              <a:rPr sz="1850" b="1">
                <a:solidFill>
                  <a:srgbClr val="1A1F29"/>
                </a:solidFill>
                <a:latin typeface="Inter"/>
              </a:rPr>
              <a:t>Score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300" b="0">
                <a:solidFill>
                  <a:srgbClr val="545861"/>
                </a:solidFill>
                <a:latin typeface="Inter"/>
              </a:rPr>
              <a:t>Deterministic metrics against your ground truth.</a:t>
            </a:r>
          </a:p>
          <a:p>
            <a:pPr algn="l"/>
            <a:r>
              <a:rPr sz="1100" b="0">
                <a:solidFill>
                  <a:srgbClr val="82868E"/>
                </a:solidFill>
                <a:latin typeface="Consolas"/>
              </a:rPr>
              <a:t>evaluate.py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79873" cy="41148"/>
          </a:xfrm>
          <a:prstGeom prst="rect">
            <a:avLst/>
          </a:prstGeom>
          <a:solidFill>
            <a:srgbClr val="3B5B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647395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545861"/>
                </a:solidFill>
                <a:latin typeface="Inter"/>
              </a:rPr>
              <a:t>ProofBench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78847" y="6473952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82868E"/>
                </a:solidFill>
                <a:latin typeface="Consolas"/>
              </a:rPr>
              <a:t>05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777240"/>
            <a:ext cx="10509199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4000" b="1" spc="-60">
                <a:solidFill>
                  <a:srgbClr val="1A1F29"/>
                </a:solidFill>
                <a:latin typeface="Inter"/>
              </a:rPr>
              <a:t>Five sponsors, one pipeline.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2148840"/>
            <a:ext cx="10509199" cy="4572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2249424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545861"/>
                </a:solidFill>
                <a:latin typeface="Inter"/>
              </a:rPr>
              <a:t>Sponsor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01568" y="224942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545861"/>
                </a:solidFill>
                <a:latin typeface="Inter"/>
              </a:rPr>
              <a:t>Role in ProofBench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1248" y="2606040"/>
            <a:ext cx="10509199" cy="10972"/>
          </a:xfrm>
          <a:prstGeom prst="rect">
            <a:avLst/>
          </a:prstGeom>
          <a:solidFill>
            <a:srgbClr val="DDE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2761488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50" b="1">
                <a:solidFill>
                  <a:srgbClr val="1A1F29"/>
                </a:solidFill>
                <a:latin typeface="Inter"/>
              </a:rPr>
              <a:t>Daytona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01568" y="2761488"/>
            <a:ext cx="776599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A1F29"/>
                </a:solidFill>
                <a:latin typeface="Inter"/>
              </a:rPr>
              <a:t>Sandbox fleet. </a:t>
            </a:r>
            <a:r>
              <a:rPr sz="1600" b="0">
                <a:solidFill>
                  <a:srgbClr val="545861"/>
                </a:solidFill>
                <a:latin typeface="Inter"/>
              </a:rPr>
              <a:t>A pre-warmed pool of isolated sandboxes. One per candidate, built and run in parallel.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1248" y="3355848"/>
            <a:ext cx="10509199" cy="10972"/>
          </a:xfrm>
          <a:prstGeom prst="rect">
            <a:avLst/>
          </a:prstGeom>
          <a:solidFill>
            <a:srgbClr val="DDE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4128" y="3511296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50" b="1">
                <a:solidFill>
                  <a:srgbClr val="1A1F29"/>
                </a:solidFill>
                <a:latin typeface="Inter"/>
              </a:rPr>
              <a:t>Kimi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01568" y="3511296"/>
            <a:ext cx="776599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A1F29"/>
                </a:solidFill>
                <a:latin typeface="Inter"/>
              </a:rPr>
              <a:t>Orchestrator. </a:t>
            </a:r>
            <a:r>
              <a:rPr sz="1600" b="0">
                <a:solidFill>
                  <a:srgbClr val="545861"/>
                </a:solidFill>
                <a:latin typeface="Inter"/>
              </a:rPr>
              <a:t>Runs the intake chat and the autonomous benchmark loop, then writes the final ranked report.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1248" y="4105656"/>
            <a:ext cx="10509199" cy="10972"/>
          </a:xfrm>
          <a:prstGeom prst="rect">
            <a:avLst/>
          </a:prstGeom>
          <a:solidFill>
            <a:srgbClr val="DDE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4128" y="4261104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50" b="1">
                <a:solidFill>
                  <a:srgbClr val="1A1F29"/>
                </a:solidFill>
                <a:latin typeface="Inter"/>
              </a:rPr>
              <a:t>Oxylabs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01568" y="4261104"/>
            <a:ext cx="776599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A1F29"/>
                </a:solidFill>
                <a:latin typeface="Inter"/>
              </a:rPr>
              <a:t>Docs intel. </a:t>
            </a:r>
            <a:r>
              <a:rPr sz="1600" b="0">
                <a:solidFill>
                  <a:srgbClr val="545861"/>
                </a:solidFill>
                <a:latin typeface="Inter"/>
              </a:rPr>
              <a:t>Google search for candidate discovery, scraping of documentation and pricing pages.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1248" y="4855464"/>
            <a:ext cx="10509199" cy="10972"/>
          </a:xfrm>
          <a:prstGeom prst="rect">
            <a:avLst/>
          </a:prstGeom>
          <a:solidFill>
            <a:srgbClr val="DDE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4128" y="5010912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50" b="1">
                <a:solidFill>
                  <a:srgbClr val="1A1F29"/>
                </a:solidFill>
                <a:latin typeface="Inter"/>
              </a:rPr>
              <a:t>Doubleword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01568" y="5010912"/>
            <a:ext cx="776599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A1F29"/>
                </a:solidFill>
                <a:latin typeface="Inter"/>
              </a:rPr>
              <a:t>Codegen and candidate. </a:t>
            </a:r>
            <a:r>
              <a:rPr sz="1600" b="0">
                <a:solidFill>
                  <a:srgbClr val="545861"/>
                </a:solidFill>
                <a:latin typeface="Inter"/>
              </a:rPr>
              <a:t>Generates each adapter from the scraped docs, and runs as a hosted extraction candidate.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41248" y="5605272"/>
            <a:ext cx="10509199" cy="10972"/>
          </a:xfrm>
          <a:prstGeom prst="rect">
            <a:avLst/>
          </a:prstGeom>
          <a:solidFill>
            <a:srgbClr val="DDE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4128" y="5760720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50" b="1">
                <a:solidFill>
                  <a:srgbClr val="1A1F29"/>
                </a:solidFill>
                <a:latin typeface="Inter"/>
              </a:rPr>
              <a:t>Nosana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01568" y="5760720"/>
            <a:ext cx="776599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A1F29"/>
                </a:solidFill>
                <a:latin typeface="Inter"/>
              </a:rPr>
              <a:t>GPU VLM candidate. </a:t>
            </a:r>
            <a:r>
              <a:rPr sz="1600" b="0">
                <a:solidFill>
                  <a:srgbClr val="545861"/>
                </a:solidFill>
                <a:latin typeface="Inter"/>
              </a:rPr>
              <a:t>A hosted vision model benchmarked alongside local OCR tools.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41248" y="6355080"/>
            <a:ext cx="10509199" cy="10972"/>
          </a:xfrm>
          <a:prstGeom prst="rect">
            <a:avLst/>
          </a:prstGeom>
          <a:solidFill>
            <a:srgbClr val="DDE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5847" cy="41148"/>
          </a:xfrm>
          <a:prstGeom prst="rect">
            <a:avLst/>
          </a:prstGeom>
          <a:solidFill>
            <a:srgbClr val="3B5B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647395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545861"/>
                </a:solidFill>
                <a:latin typeface="Inter"/>
              </a:rPr>
              <a:t>ProofBench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78847" y="6473952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82868E"/>
                </a:solidFill>
                <a:latin typeface="Consolas"/>
              </a:rPr>
              <a:t>06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417320"/>
            <a:ext cx="55778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600" b="1" spc="-60">
                <a:solidFill>
                  <a:srgbClr val="1A1F29"/>
                </a:solidFill>
                <a:latin typeface="Inter"/>
              </a:rPr>
              <a:t>It reads the docs so you do not have to.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3063240"/>
            <a:ext cx="557784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850" b="0">
                <a:solidFill>
                  <a:srgbClr val="545861"/>
                </a:solidFill>
                <a:latin typeface="Inter"/>
              </a:rPr>
              <a:t>Give the Kimi orchestrator a plain-language brief. It searches Google and scrapes documentation and pricing pages with Oxylabs, then proposes an </a:t>
            </a:r>
            <a:r>
              <a:rPr sz="1850" b="1">
                <a:solidFill>
                  <a:srgbClr val="1A1F29"/>
                </a:solidFill>
                <a:latin typeface="Inter"/>
              </a:rPr>
              <a:t>editable spec</a:t>
            </a:r>
            <a:r>
              <a:rPr sz="1850" b="0">
                <a:solidFill>
                  <a:srgbClr val="545861"/>
                </a:solidFill>
                <a:latin typeface="Inter"/>
              </a:rPr>
              <a:t>: candidates, dataset, metrics. You confirm, it runs.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12280" y="1417320"/>
            <a:ext cx="4526280" cy="4160520"/>
          </a:xfrm>
          <a:prstGeom prst="roundRect">
            <a:avLst>
              <a:gd name="adj" fmla="val 4500"/>
            </a:avLst>
          </a:prstGeom>
          <a:solidFill>
            <a:srgbClr val="F9FAFC"/>
          </a:solidFill>
          <a:ln w="9525">
            <a:solidFill>
              <a:srgbClr val="DD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04888" y="1673352"/>
            <a:ext cx="3977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545861"/>
                </a:solidFill>
                <a:latin typeface="Inter"/>
              </a:rPr>
              <a:t>Proposed spec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04888" y="2075688"/>
            <a:ext cx="1035100" cy="329184"/>
          </a:xfrm>
          <a:prstGeom prst="roundRect">
            <a:avLst>
              <a:gd name="adj" fmla="val 50000"/>
            </a:avLst>
          </a:prstGeom>
          <a:solidFill>
            <a:srgbClr val="E7EEFF"/>
          </a:solidFill>
          <a:ln w="9525">
            <a:solidFill>
              <a:srgbClr val="DD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200" b="0">
                <a:solidFill>
                  <a:srgbClr val="1A1F29"/>
                </a:solidFill>
                <a:latin typeface="Consolas"/>
              </a:rPr>
              <a:t>tesseract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68004" y="2075688"/>
            <a:ext cx="874166" cy="329184"/>
          </a:xfrm>
          <a:prstGeom prst="roundRect">
            <a:avLst>
              <a:gd name="adj" fmla="val 50000"/>
            </a:avLst>
          </a:prstGeom>
          <a:solidFill>
            <a:srgbClr val="E7EEFF"/>
          </a:solidFill>
          <a:ln w="9525">
            <a:solidFill>
              <a:srgbClr val="DD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200" b="0">
                <a:solidFill>
                  <a:srgbClr val="1A1F29"/>
                </a:solidFill>
                <a:latin typeface="Consolas"/>
              </a:rPr>
              <a:t>easyocr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70187" y="2075688"/>
            <a:ext cx="1115568" cy="329184"/>
          </a:xfrm>
          <a:prstGeom prst="roundRect">
            <a:avLst>
              <a:gd name="adj" fmla="val 50000"/>
            </a:avLst>
          </a:prstGeom>
          <a:solidFill>
            <a:srgbClr val="E7EEFF"/>
          </a:solidFill>
          <a:ln w="9525">
            <a:solidFill>
              <a:srgbClr val="DD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200" b="0">
                <a:solidFill>
                  <a:srgbClr val="1A1F29"/>
                </a:solidFill>
                <a:latin typeface="Consolas"/>
              </a:rPr>
              <a:t>nosana_vlm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04888" y="2496312"/>
            <a:ext cx="1115568" cy="329184"/>
          </a:xfrm>
          <a:prstGeom prst="roundRect">
            <a:avLst>
              <a:gd name="adj" fmla="val 50000"/>
            </a:avLst>
          </a:prstGeom>
          <a:solidFill>
            <a:srgbClr val="E7EEFF"/>
          </a:solidFill>
          <a:ln w="9525">
            <a:solidFill>
              <a:srgbClr val="DD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200" b="0">
                <a:solidFill>
                  <a:srgbClr val="1A1F29"/>
                </a:solidFill>
                <a:latin typeface="Consolas"/>
              </a:rPr>
              <a:t>doubleword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48472" y="2496312"/>
            <a:ext cx="1759305" cy="329184"/>
          </a:xfrm>
          <a:prstGeom prst="roundRect">
            <a:avLst>
              <a:gd name="adj" fmla="val 50000"/>
            </a:avLst>
          </a:prstGeom>
          <a:solidFill>
            <a:srgbClr val="F4F6F8"/>
          </a:solidFill>
          <a:ln w="9525">
            <a:solidFill>
              <a:srgbClr val="DD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200" b="0">
                <a:solidFill>
                  <a:srgbClr val="545861"/>
                </a:solidFill>
                <a:latin typeface="Consolas"/>
              </a:rPr>
              <a:t>+ discovered tools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04888" y="3566160"/>
            <a:ext cx="3941064" cy="10972"/>
          </a:xfrm>
          <a:prstGeom prst="rect">
            <a:avLst/>
          </a:prstGeom>
          <a:solidFill>
            <a:srgbClr val="DDE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04888" y="3749039"/>
            <a:ext cx="3941064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545861"/>
                </a:solidFill>
                <a:latin typeface="Inter"/>
              </a:rPr>
              <a:t>Dataset: </a:t>
            </a:r>
            <a:r>
              <a:rPr sz="1300" b="1">
                <a:solidFill>
                  <a:srgbClr val="1A1F29"/>
                </a:solidFill>
                <a:latin typeface="Inter"/>
              </a:rPr>
              <a:t>data/demo</a:t>
            </a:r>
            <a:r>
              <a:rPr sz="1300" b="0">
                <a:solidFill>
                  <a:srgbClr val="545861"/>
                </a:solidFill>
                <a:latin typeface="Inter"/>
              </a:rPr>
              <a:t>, 15 labelled invoices</a:t>
            </a:r>
          </a:p>
          <a:p>
            <a:pPr algn="l"/>
            <a:r>
              <a:rPr sz="1300" b="0">
                <a:solidFill>
                  <a:srgbClr val="545861"/>
                </a:solidFill>
                <a:latin typeface="Inter"/>
              </a:rPr>
              <a:t>Metrics: </a:t>
            </a:r>
            <a:r>
              <a:rPr sz="1300" b="1">
                <a:solidFill>
                  <a:srgbClr val="1A1F29"/>
                </a:solidFill>
                <a:latin typeface="Inter"/>
              </a:rPr>
              <a:t>exact accuracy, field F1, CER, latency, cost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04888" y="4846320"/>
            <a:ext cx="1691640" cy="420624"/>
          </a:xfrm>
          <a:prstGeom prst="roundRect">
            <a:avLst>
              <a:gd name="adj" fmla="val 16000"/>
            </a:avLst>
          </a:prstGeom>
          <a:solidFill>
            <a:srgbClr val="3B5B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350" b="1">
                <a:solidFill>
                  <a:srgbClr val="FAFCFF"/>
                </a:solidFill>
                <a:latin typeface="Inter"/>
              </a:rPr>
              <a:t>Run benchmark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111822" cy="41148"/>
          </a:xfrm>
          <a:prstGeom prst="rect">
            <a:avLst/>
          </a:prstGeom>
          <a:solidFill>
            <a:srgbClr val="3B5B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647395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545861"/>
                </a:solidFill>
                <a:latin typeface="Inter"/>
              </a:rPr>
              <a:t>ProofBench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78847" y="6473952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82868E"/>
                </a:solidFill>
                <a:latin typeface="Consolas"/>
              </a:rPr>
              <a:t>07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417320"/>
            <a:ext cx="55778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600" b="1" spc="-60">
                <a:solidFill>
                  <a:srgbClr val="1A1F29"/>
                </a:solidFill>
                <a:latin typeface="Inter"/>
              </a:rPr>
              <a:t>Integrations written from each tool's own documentation.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3657600"/>
            <a:ext cx="55778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850" b="0">
                <a:solidFill>
                  <a:srgbClr val="545861"/>
                </a:solidFill>
                <a:latin typeface="Inter"/>
              </a:rPr>
              <a:t>Doubleword generates a working extraction adapter per candidate: install commands, API calls, output mapping. Every adapter implements </a:t>
            </a:r>
            <a:r>
              <a:rPr sz="1850" b="1">
                <a:solidFill>
                  <a:srgbClr val="1A1F29"/>
                </a:solidFill>
                <a:latin typeface="Inter"/>
              </a:rPr>
              <a:t>the same contract</a:t>
            </a:r>
            <a:r>
              <a:rPr sz="1850" b="0">
                <a:solidFill>
                  <a:srgbClr val="545861"/>
                </a:solidFill>
                <a:latin typeface="Inter"/>
              </a:rPr>
              <a:t>, so scoring is apples to apples.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12280" y="1371600"/>
            <a:ext cx="4526280" cy="3566160"/>
          </a:xfrm>
          <a:prstGeom prst="roundRect">
            <a:avLst>
              <a:gd name="adj" fmla="val 3000"/>
            </a:avLst>
          </a:prstGeom>
          <a:solidFill>
            <a:srgbClr val="F9FAFC"/>
          </a:solidFill>
          <a:ln w="9525">
            <a:solidFill>
              <a:srgbClr val="DD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04888" y="1645920"/>
            <a:ext cx="397764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250" b="0">
                <a:solidFill>
                  <a:srgbClr val="82868E"/>
                </a:solidFill>
                <a:latin typeface="Consolas"/>
              </a:rPr>
              <a:t># easyocr adapter, generated from its scraped docs</a:t>
            </a:r>
          </a:p>
          <a:p>
            <a:pPr algn="l">
              <a:lnSpc>
                <a:spcPct val="145000"/>
              </a:lnSpc>
            </a:pPr>
            <a:r>
              <a:rPr sz="1250" b="1">
                <a:solidFill>
                  <a:srgbClr val="3B5BD4"/>
                </a:solidFill>
                <a:latin typeface="Consolas"/>
              </a:rPr>
              <a:t>def</a:t>
            </a:r>
            <a:r>
              <a:rPr sz="1250" b="0">
                <a:solidFill>
                  <a:srgbClr val="1A1F29"/>
                </a:solidFill>
                <a:latin typeface="Consolas"/>
              </a:rPr>
              <a:t> extract(image_path):</a:t>
            </a:r>
          </a:p>
          <a:p>
            <a:pPr algn="l">
              <a:lnSpc>
                <a:spcPct val="145000"/>
              </a:lnSpc>
            </a:pPr>
            <a:r>
              <a:rPr sz="1250" b="0">
                <a:solidFill>
                  <a:srgbClr val="1A1F29"/>
                </a:solidFill>
                <a:latin typeface="Consolas"/>
              </a:rPr>
              <a:t>    reader = easyocr.Reader(["en"])</a:t>
            </a:r>
          </a:p>
          <a:p>
            <a:pPr algn="l">
              <a:lnSpc>
                <a:spcPct val="145000"/>
              </a:lnSpc>
            </a:pPr>
            <a:r>
              <a:rPr sz="1250" b="0">
                <a:solidFill>
                  <a:srgbClr val="1A1F29"/>
                </a:solidFill>
                <a:latin typeface="Consolas"/>
              </a:rPr>
              <a:t>    lines = reader.readtext(image_path)</a:t>
            </a:r>
          </a:p>
          <a:p>
            <a:pPr algn="l">
              <a:lnSpc>
                <a:spcPct val="145000"/>
              </a:lnSpc>
            </a:pPr>
            <a:r>
              <a:rPr sz="1250" b="1">
                <a:solidFill>
                  <a:srgbClr val="3B5BD4"/>
                </a:solidFill>
                <a:latin typeface="Consolas"/>
              </a:rPr>
              <a:t>    return</a:t>
            </a:r>
            <a:r>
              <a:rPr sz="1250" b="0">
                <a:solidFill>
                  <a:srgbClr val="1A1F29"/>
                </a:solidFill>
                <a:latin typeface="Consolas"/>
              </a:rPr>
              <a:t> {</a:t>
            </a:r>
          </a:p>
          <a:p>
            <a:pPr algn="l">
              <a:lnSpc>
                <a:spcPct val="145000"/>
              </a:lnSpc>
            </a:pPr>
            <a:r>
              <a:rPr sz="1250" b="0">
                <a:solidFill>
                  <a:srgbClr val="1A1F29"/>
                </a:solidFill>
                <a:latin typeface="Consolas"/>
              </a:rPr>
              <a:t>        "invoice_no": parse_no(lines),</a:t>
            </a:r>
          </a:p>
          <a:p>
            <a:pPr algn="l">
              <a:lnSpc>
                <a:spcPct val="145000"/>
              </a:lnSpc>
            </a:pPr>
            <a:r>
              <a:rPr sz="1250" b="0">
                <a:solidFill>
                  <a:srgbClr val="1A1F29"/>
                </a:solidFill>
                <a:latin typeface="Consolas"/>
              </a:rPr>
              <a:t>        "date":       parse_date(lines),</a:t>
            </a:r>
          </a:p>
          <a:p>
            <a:pPr algn="l">
              <a:lnSpc>
                <a:spcPct val="145000"/>
              </a:lnSpc>
            </a:pPr>
            <a:r>
              <a:rPr sz="1250" b="0">
                <a:solidFill>
                  <a:srgbClr val="1A1F29"/>
                </a:solidFill>
                <a:latin typeface="Consolas"/>
              </a:rPr>
              <a:t>        "total":      parse_total(lines),</a:t>
            </a:r>
          </a:p>
          <a:p>
            <a:pPr algn="l">
              <a:lnSpc>
                <a:spcPct val="145000"/>
              </a:lnSpc>
            </a:pPr>
            <a:r>
              <a:rPr sz="1250" b="0">
                <a:solidFill>
                  <a:srgbClr val="1A1F29"/>
                </a:solidFill>
                <a:latin typeface="Consolas"/>
              </a:rPr>
              <a:t>    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127796" cy="41148"/>
          </a:xfrm>
          <a:prstGeom prst="rect">
            <a:avLst/>
          </a:prstGeom>
          <a:solidFill>
            <a:srgbClr val="3B5B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647395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545861"/>
                </a:solidFill>
                <a:latin typeface="Inter"/>
              </a:rPr>
              <a:t>ProofBench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78847" y="6473952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82868E"/>
                </a:solidFill>
                <a:latin typeface="Consolas"/>
              </a:rPr>
              <a:t>08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417320"/>
            <a:ext cx="55778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600" b="1" spc="-60">
                <a:solidFill>
                  <a:srgbClr val="1A1F29"/>
                </a:solidFill>
                <a:latin typeface="Inter"/>
              </a:rPr>
              <a:t>Every candidate races in its own Daytona sandbox.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3657600"/>
            <a:ext cx="557784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850" b="0">
                <a:solidFill>
                  <a:srgbClr val="545861"/>
                </a:solidFill>
                <a:latin typeface="Inter"/>
              </a:rPr>
              <a:t>A pre-warmed pool builds, validates, and runs candidates </a:t>
            </a:r>
            <a:r>
              <a:rPr sz="1850" b="1">
                <a:solidFill>
                  <a:srgbClr val="1A1F29"/>
                </a:solidFill>
                <a:latin typeface="Inter"/>
              </a:rPr>
              <a:t>in parallel</a:t>
            </a:r>
            <a:r>
              <a:rPr sz="1850" b="0">
                <a:solidFill>
                  <a:srgbClr val="545861"/>
                </a:solidFill>
                <a:latin typeface="Inter"/>
              </a:rPr>
              <a:t>. A failed build triggers self-repair: the agent reads the error, patches the adapter, retries. Every line streams to the console.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12280" y="1463040"/>
            <a:ext cx="4526280" cy="3063240"/>
          </a:xfrm>
          <a:prstGeom prst="roundRect">
            <a:avLst>
              <a:gd name="adj" fmla="val 4500"/>
            </a:avLst>
          </a:prstGeom>
          <a:solidFill>
            <a:srgbClr val="2126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04888" y="1719072"/>
            <a:ext cx="3977640" cy="2606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50" b="0">
                <a:solidFill>
                  <a:srgbClr val="829394"/>
                </a:solidFill>
                <a:latin typeface="Consolas"/>
              </a:rPr>
              <a:t>[sb-1]</a:t>
            </a:r>
            <a:r>
              <a:rPr sz="1250" b="0">
                <a:solidFill>
                  <a:srgbClr val="C3D2C9"/>
                </a:solidFill>
                <a:latin typeface="Consolas"/>
              </a:rPr>
              <a:t> pip install easyocr torch </a:t>
            </a:r>
            <a:r>
              <a:rPr sz="1250" b="0">
                <a:solidFill>
                  <a:srgbClr val="59C5F5"/>
                </a:solidFill>
                <a:latin typeface="Consolas"/>
              </a:rPr>
              <a:t>building</a:t>
            </a:r>
          </a:p>
          <a:p>
            <a:pPr algn="l">
              <a:lnSpc>
                <a:spcPct val="150000"/>
              </a:lnSpc>
            </a:pPr>
            <a:r>
              <a:rPr sz="1250" b="0">
                <a:solidFill>
                  <a:srgbClr val="829394"/>
                </a:solidFill>
                <a:latin typeface="Consolas"/>
              </a:rPr>
              <a:t>[sb-1]</a:t>
            </a:r>
            <a:r>
              <a:rPr sz="1250" b="0">
                <a:solidFill>
                  <a:srgbClr val="C3D2C9"/>
                </a:solidFill>
                <a:latin typeface="Consolas"/>
              </a:rPr>
              <a:t> build ok in 41s </a:t>
            </a:r>
            <a:r>
              <a:rPr sz="1250" b="0">
                <a:solidFill>
                  <a:srgbClr val="EDB345"/>
                </a:solidFill>
                <a:latin typeface="Consolas"/>
              </a:rPr>
              <a:t>validating</a:t>
            </a:r>
          </a:p>
          <a:p>
            <a:pPr algn="l">
              <a:lnSpc>
                <a:spcPct val="150000"/>
              </a:lnSpc>
            </a:pPr>
            <a:r>
              <a:rPr sz="1250" b="0">
                <a:solidFill>
                  <a:srgbClr val="829394"/>
                </a:solidFill>
                <a:latin typeface="Consolas"/>
              </a:rPr>
              <a:t>[sb-2]</a:t>
            </a:r>
            <a:r>
              <a:rPr sz="1250" b="0">
                <a:solidFill>
                  <a:srgbClr val="C3D2C9"/>
                </a:solidFill>
                <a:latin typeface="Consolas"/>
              </a:rPr>
              <a:t> tesseract: exit 1 </a:t>
            </a:r>
            <a:r>
              <a:rPr sz="1250" b="0">
                <a:solidFill>
                  <a:srgbClr val="FF847D"/>
                </a:solidFill>
                <a:latin typeface="Consolas"/>
              </a:rPr>
              <a:t>failed</a:t>
            </a:r>
          </a:p>
          <a:p>
            <a:pPr algn="l">
              <a:lnSpc>
                <a:spcPct val="150000"/>
              </a:lnSpc>
            </a:pPr>
            <a:r>
              <a:rPr sz="1250" b="0">
                <a:solidFill>
                  <a:srgbClr val="829394"/>
                </a:solidFill>
                <a:latin typeface="Consolas"/>
              </a:rPr>
              <a:t>[sb-2]</a:t>
            </a:r>
            <a:r>
              <a:rPr sz="1250" b="0">
                <a:solidFill>
                  <a:srgbClr val="C3D2C9"/>
                </a:solidFill>
                <a:latin typeface="Consolas"/>
              </a:rPr>
              <a:t> repair 1: adapter patched </a:t>
            </a:r>
            <a:r>
              <a:rPr sz="1250" b="0">
                <a:solidFill>
                  <a:srgbClr val="EDB345"/>
                </a:solidFill>
                <a:latin typeface="Consolas"/>
              </a:rPr>
              <a:t>repair</a:t>
            </a:r>
          </a:p>
          <a:p>
            <a:pPr algn="l">
              <a:lnSpc>
                <a:spcPct val="150000"/>
              </a:lnSpc>
            </a:pPr>
            <a:r>
              <a:rPr sz="1250" b="0">
                <a:solidFill>
                  <a:srgbClr val="829394"/>
                </a:solidFill>
                <a:latin typeface="Consolas"/>
              </a:rPr>
              <a:t>[sb-2]</a:t>
            </a:r>
            <a:r>
              <a:rPr sz="1250" b="0">
                <a:solidFill>
                  <a:srgbClr val="C3D2C9"/>
                </a:solidFill>
                <a:latin typeface="Consolas"/>
              </a:rPr>
              <a:t> rebuild ok </a:t>
            </a:r>
            <a:r>
              <a:rPr sz="1250" b="0">
                <a:solidFill>
                  <a:srgbClr val="59C5F5"/>
                </a:solidFill>
                <a:latin typeface="Consolas"/>
              </a:rPr>
              <a:t>running</a:t>
            </a:r>
          </a:p>
          <a:p>
            <a:pPr algn="l">
              <a:lnSpc>
                <a:spcPct val="150000"/>
              </a:lnSpc>
            </a:pPr>
            <a:r>
              <a:rPr sz="1250" b="0">
                <a:solidFill>
                  <a:srgbClr val="829394"/>
                </a:solidFill>
                <a:latin typeface="Consolas"/>
              </a:rPr>
              <a:t>[sb-1]</a:t>
            </a:r>
            <a:r>
              <a:rPr sz="1250" b="0">
                <a:solidFill>
                  <a:srgbClr val="C3D2C9"/>
                </a:solidFill>
                <a:latin typeface="Consolas"/>
              </a:rPr>
              <a:t> 15/15 docs extracted </a:t>
            </a:r>
            <a:r>
              <a:rPr sz="1250" b="0">
                <a:solidFill>
                  <a:srgbClr val="6AD895"/>
                </a:solidFill>
                <a:latin typeface="Consolas"/>
              </a:rPr>
              <a:t>done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3771" cy="41148"/>
          </a:xfrm>
          <a:prstGeom prst="rect">
            <a:avLst/>
          </a:prstGeom>
          <a:solidFill>
            <a:srgbClr val="3B5B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647395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545861"/>
                </a:solidFill>
                <a:latin typeface="Inter"/>
              </a:rPr>
              <a:t>ProofBench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78847" y="6473952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82868E"/>
                </a:solidFill>
                <a:latin typeface="Consolas"/>
              </a:rPr>
              <a:t>09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234440"/>
            <a:ext cx="55778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600" b="1" spc="-60">
                <a:solidFill>
                  <a:srgbClr val="1A1F29"/>
                </a:solidFill>
                <a:latin typeface="Inter"/>
              </a:rPr>
              <a:t>Scored by code, never judged by a model.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3017520"/>
            <a:ext cx="55778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1A1F29"/>
                </a:solidFill>
                <a:latin typeface="Consolas"/>
              </a:rPr>
              <a:t>evaluate.py</a:t>
            </a:r>
            <a:r>
              <a:rPr sz="1800" b="0">
                <a:solidFill>
                  <a:srgbClr val="545861"/>
                </a:solidFill>
                <a:latin typeface="Inter"/>
              </a:rPr>
              <a:t> compares every extraction against your ground truth. Deterministic, offline, reproducible byte-for-byte.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" y="4160520"/>
            <a:ext cx="5577840" cy="10972"/>
          </a:xfrm>
          <a:prstGeom prst="rect">
            <a:avLst/>
          </a:prstGeom>
          <a:solidFill>
            <a:srgbClr val="DDE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4270248"/>
            <a:ext cx="5577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>
                <a:solidFill>
                  <a:srgbClr val="1A1F29"/>
                </a:solidFill>
                <a:latin typeface="Consolas"/>
              </a:rPr>
              <a:t>exact accuracy   </a:t>
            </a:r>
            <a:r>
              <a:rPr sz="1550" b="0">
                <a:solidFill>
                  <a:srgbClr val="545861"/>
                </a:solidFill>
                <a:latin typeface="Inter"/>
              </a:rPr>
              <a:t>whole-document match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1248" y="4636008"/>
            <a:ext cx="5577840" cy="10972"/>
          </a:xfrm>
          <a:prstGeom prst="rect">
            <a:avLst/>
          </a:prstGeom>
          <a:solidFill>
            <a:srgbClr val="DDE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4745736"/>
            <a:ext cx="5577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>
                <a:solidFill>
                  <a:srgbClr val="1A1F29"/>
                </a:solidFill>
                <a:latin typeface="Consolas"/>
              </a:rPr>
              <a:t>field F1 Â· CER   </a:t>
            </a:r>
            <a:r>
              <a:rPr sz="1550" b="0">
                <a:solidFill>
                  <a:srgbClr val="545861"/>
                </a:solidFill>
                <a:latin typeface="Inter"/>
              </a:rPr>
              <a:t>per-field and character-level error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1248" y="5111496"/>
            <a:ext cx="5577840" cy="10972"/>
          </a:xfrm>
          <a:prstGeom prst="rect">
            <a:avLst/>
          </a:prstGeom>
          <a:solidFill>
            <a:srgbClr val="DDE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" y="5221224"/>
            <a:ext cx="5577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>
                <a:solidFill>
                  <a:srgbClr val="1A1F29"/>
                </a:solidFill>
                <a:latin typeface="Consolas"/>
              </a:rPr>
              <a:t>latency Â· failure rate Â· cost/1k   </a:t>
            </a:r>
            <a:r>
              <a:rPr sz="1550" b="0">
                <a:solidFill>
                  <a:srgbClr val="545861"/>
                </a:solidFill>
                <a:latin typeface="Inter"/>
              </a:rPr>
              <a:t>the operational picture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1248" y="5586983"/>
            <a:ext cx="5577840" cy="10972"/>
          </a:xfrm>
          <a:prstGeom prst="rect">
            <a:avLst/>
          </a:prstGeom>
          <a:solidFill>
            <a:srgbClr val="DDE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537960" y="1234440"/>
            <a:ext cx="4892040" cy="1993392"/>
          </a:xfrm>
          <a:prstGeom prst="roundRect">
            <a:avLst>
              <a:gd name="adj" fmla="val 3000"/>
            </a:avLst>
          </a:prstGeom>
          <a:solidFill>
            <a:srgbClr val="F9FAFC"/>
          </a:solidFill>
          <a:ln w="9525">
            <a:solidFill>
              <a:srgbClr val="DDE0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56248" y="1252728"/>
            <a:ext cx="4855464" cy="329184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84264" y="1316736"/>
            <a:ext cx="283464" cy="23774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/>
            <a:r>
              <a:rPr sz="1000" b="1">
                <a:solidFill>
                  <a:srgbClr val="545861"/>
                </a:solidFill>
                <a:latin typeface="Inter"/>
              </a:rPr>
              <a:t>#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04304" y="1316736"/>
            <a:ext cx="1078992" cy="23774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545861"/>
                </a:solidFill>
                <a:latin typeface="Inter"/>
              </a:rPr>
              <a:t>Candidate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19872" y="1316736"/>
            <a:ext cx="530352" cy="23774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/>
            <a:r>
              <a:rPr sz="1000" b="1">
                <a:solidFill>
                  <a:srgbClr val="545861"/>
                </a:solidFill>
                <a:latin typeface="Inter"/>
              </a:rPr>
              <a:t>Exact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1316736"/>
            <a:ext cx="466344" cy="23774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/>
            <a:r>
              <a:rPr sz="1000" b="1">
                <a:solidFill>
                  <a:srgbClr val="545861"/>
                </a:solidFill>
                <a:latin typeface="Inter"/>
              </a:rPr>
              <a:t>F1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9720" y="1316736"/>
            <a:ext cx="466344" cy="23774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/>
            <a:r>
              <a:rPr sz="1000" b="1">
                <a:solidFill>
                  <a:srgbClr val="545861"/>
                </a:solidFill>
                <a:latin typeface="Inter"/>
              </a:rPr>
              <a:t>CER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92640" y="1316736"/>
            <a:ext cx="585216" cy="23774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/>
            <a:r>
              <a:rPr sz="1000" b="1">
                <a:solidFill>
                  <a:srgbClr val="545861"/>
                </a:solidFill>
                <a:latin typeface="Inter"/>
              </a:rPr>
              <a:t>Latency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14432" y="1316736"/>
            <a:ext cx="420624" cy="23774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/>
            <a:r>
              <a:rPr sz="1000" b="1">
                <a:solidFill>
                  <a:srgbClr val="545861"/>
                </a:solidFill>
                <a:latin typeface="Inter"/>
              </a:rPr>
              <a:t>Fail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71632" y="1316736"/>
            <a:ext cx="512063" cy="23774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/>
            <a:r>
              <a:rPr sz="1000" b="1">
                <a:solidFill>
                  <a:srgbClr val="545861"/>
                </a:solidFill>
                <a:latin typeface="Inter"/>
              </a:rPr>
              <a:t>$/1k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56248" y="1581912"/>
            <a:ext cx="4855464" cy="402336"/>
          </a:xfrm>
          <a:prstGeom prst="rect">
            <a:avLst/>
          </a:prstGeom>
          <a:solidFill>
            <a:srgbClr val="E7E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84264" y="1682496"/>
            <a:ext cx="283464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/>
            <a:r>
              <a:rPr sz="1100" b="1">
                <a:solidFill>
                  <a:srgbClr val="1A1F29"/>
                </a:solidFill>
                <a:latin typeface="Consolas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04304" y="1682496"/>
            <a:ext cx="1078992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1A1F29"/>
                </a:solidFill>
                <a:latin typeface="Inter"/>
              </a:rPr>
              <a:t>openai_vision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19872" y="1682496"/>
            <a:ext cx="530352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/>
            <a:r>
              <a:rPr sz="1100" b="1">
                <a:solidFill>
                  <a:srgbClr val="1A1F29"/>
                </a:solidFill>
                <a:latin typeface="Consolas"/>
              </a:rPr>
              <a:t>96.7%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0" y="1682496"/>
            <a:ext cx="466344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/>
            <a:r>
              <a:rPr sz="1100" b="1">
                <a:solidFill>
                  <a:srgbClr val="1A1F29"/>
                </a:solidFill>
                <a:latin typeface="Consolas"/>
              </a:rPr>
              <a:t>97.5%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9720" y="1682496"/>
            <a:ext cx="466344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/>
            <a:r>
              <a:rPr sz="1100" b="1">
                <a:solidFill>
                  <a:srgbClr val="1A1F29"/>
                </a:solidFill>
                <a:latin typeface="Consolas"/>
              </a:rPr>
              <a:t>0.012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92640" y="1682496"/>
            <a:ext cx="585216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/>
            <a:r>
              <a:rPr sz="1100" b="1">
                <a:solidFill>
                  <a:srgbClr val="1A1F29"/>
                </a:solidFill>
                <a:latin typeface="Consolas"/>
              </a:rPr>
              <a:t>1.18s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314432" y="1682496"/>
            <a:ext cx="420624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/>
            <a:r>
              <a:rPr sz="1100" b="1">
                <a:solidFill>
                  <a:srgbClr val="1A1F29"/>
                </a:solidFill>
                <a:latin typeface="Consolas"/>
              </a:rPr>
              <a:t>0.0%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71632" y="1682496"/>
            <a:ext cx="512063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/>
            <a:r>
              <a:rPr sz="1100" b="1">
                <a:solidFill>
                  <a:srgbClr val="1A1F29"/>
                </a:solidFill>
                <a:latin typeface="Consolas"/>
              </a:rPr>
              <a:t>$7.50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665976" y="1984248"/>
            <a:ext cx="4636007" cy="10972"/>
          </a:xfrm>
          <a:prstGeom prst="rect">
            <a:avLst/>
          </a:prstGeom>
          <a:solidFill>
            <a:srgbClr val="DDE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84264" y="2084831"/>
            <a:ext cx="283464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545861"/>
                </a:solidFill>
                <a:latin typeface="Consolas"/>
              </a:rPr>
              <a:t>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04304" y="2084831"/>
            <a:ext cx="1078992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1A1F29"/>
                </a:solidFill>
                <a:latin typeface="Inter"/>
              </a:rPr>
              <a:t>doubleword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19872" y="2084831"/>
            <a:ext cx="530352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545861"/>
                </a:solidFill>
                <a:latin typeface="Consolas"/>
              </a:rPr>
              <a:t>94.2%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0" y="2084831"/>
            <a:ext cx="466344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545861"/>
                </a:solidFill>
                <a:latin typeface="Consolas"/>
              </a:rPr>
              <a:t>95.6%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89720" y="2084831"/>
            <a:ext cx="466344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545861"/>
                </a:solidFill>
                <a:latin typeface="Consolas"/>
              </a:rPr>
              <a:t>0.021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92640" y="2084831"/>
            <a:ext cx="585216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545861"/>
                </a:solidFill>
                <a:latin typeface="Consolas"/>
              </a:rPr>
              <a:t>2.41s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314432" y="2084831"/>
            <a:ext cx="420624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545861"/>
                </a:solidFill>
                <a:latin typeface="Consolas"/>
              </a:rPr>
              <a:t>0.0%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771632" y="2084831"/>
            <a:ext cx="512063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545861"/>
                </a:solidFill>
                <a:latin typeface="Consolas"/>
              </a:rPr>
              <a:t>$2.10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665976" y="2386584"/>
            <a:ext cx="4636007" cy="10972"/>
          </a:xfrm>
          <a:prstGeom prst="rect">
            <a:avLst/>
          </a:prstGeom>
          <a:solidFill>
            <a:srgbClr val="DDE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684264" y="2487168"/>
            <a:ext cx="283464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545861"/>
                </a:solidFill>
                <a:latin typeface="Consolas"/>
              </a:rPr>
              <a:t>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04304" y="2487168"/>
            <a:ext cx="1078992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1A1F29"/>
                </a:solidFill>
                <a:latin typeface="Inter"/>
              </a:rPr>
              <a:t>easyocr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19872" y="2487168"/>
            <a:ext cx="530352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545861"/>
                </a:solidFill>
                <a:latin typeface="Consolas"/>
              </a:rPr>
              <a:t>82.5%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686800" y="2487168"/>
            <a:ext cx="466344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545861"/>
                </a:solidFill>
                <a:latin typeface="Consolas"/>
              </a:rPr>
              <a:t>86.1%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89720" y="2487168"/>
            <a:ext cx="466344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545861"/>
                </a:solidFill>
                <a:latin typeface="Consolas"/>
              </a:rPr>
              <a:t>0.084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92640" y="2487168"/>
            <a:ext cx="585216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545861"/>
                </a:solidFill>
                <a:latin typeface="Consolas"/>
              </a:rPr>
              <a:t>0.74s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314432" y="2487168"/>
            <a:ext cx="420624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545861"/>
                </a:solidFill>
                <a:latin typeface="Consolas"/>
              </a:rPr>
              <a:t>3.3%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771632" y="2487168"/>
            <a:ext cx="512063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545861"/>
                </a:solidFill>
                <a:latin typeface="Consolas"/>
              </a:rPr>
              <a:t>$0.00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665976" y="2788920"/>
            <a:ext cx="4636007" cy="10972"/>
          </a:xfrm>
          <a:prstGeom prst="rect">
            <a:avLst/>
          </a:prstGeom>
          <a:solidFill>
            <a:srgbClr val="DDE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684264" y="2889503"/>
            <a:ext cx="283464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545861"/>
                </a:solidFill>
                <a:latin typeface="Consolas"/>
              </a:rPr>
              <a:t>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004304" y="2889503"/>
            <a:ext cx="1078992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1A1F29"/>
                </a:solidFill>
                <a:latin typeface="Inter"/>
              </a:rPr>
              <a:t>tesseract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19872" y="2889503"/>
            <a:ext cx="530352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545861"/>
                </a:solidFill>
                <a:latin typeface="Consolas"/>
              </a:rPr>
              <a:t>77.5%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686800" y="2889503"/>
            <a:ext cx="466344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545861"/>
                </a:solidFill>
                <a:latin typeface="Consolas"/>
              </a:rPr>
              <a:t>81.4%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189720" y="2889503"/>
            <a:ext cx="466344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545861"/>
                </a:solidFill>
                <a:latin typeface="Consolas"/>
              </a:rPr>
              <a:t>0.112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692640" y="2889503"/>
            <a:ext cx="585216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545861"/>
                </a:solidFill>
                <a:latin typeface="Consolas"/>
              </a:rPr>
              <a:t>0.31s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314432" y="2889503"/>
            <a:ext cx="420624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545861"/>
                </a:solidFill>
                <a:latin typeface="Consolas"/>
              </a:rPr>
              <a:t>6.7%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771632" y="2889503"/>
            <a:ext cx="512063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545861"/>
                </a:solidFill>
                <a:latin typeface="Consolas"/>
              </a:rPr>
              <a:t>$0.00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537960" y="3300984"/>
            <a:ext cx="4892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82868E"/>
                </a:solidFill>
                <a:latin typeface="Inter"/>
              </a:rPr>
              <a:t>Sample output, synthetic demo dataset of 15 labelled invoices.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159746" cy="41148"/>
          </a:xfrm>
          <a:prstGeom prst="rect">
            <a:avLst/>
          </a:prstGeom>
          <a:solidFill>
            <a:srgbClr val="3B5B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647395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545861"/>
                </a:solidFill>
                <a:latin typeface="Inter"/>
              </a:rPr>
              <a:t>ProofBench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78847" y="6473952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82868E"/>
                </a:solidFill>
                <a:latin typeface="Consolas"/>
              </a:rPr>
              <a:t>10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777240"/>
            <a:ext cx="10509199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4000" b="1" spc="-60">
                <a:solidFill>
                  <a:srgbClr val="1A1F29"/>
                </a:solidFill>
                <a:latin typeface="Inter"/>
              </a:rPr>
              <a:t>The agent's work is on stage.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2286000"/>
            <a:ext cx="10509199" cy="10972"/>
          </a:xfrm>
          <a:prstGeom prst="rect">
            <a:avLst/>
          </a:prstGeom>
          <a:solidFill>
            <a:srgbClr val="DDE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450592"/>
            <a:ext cx="5669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3B5BD4"/>
                </a:solidFill>
                <a:latin typeface="Consola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18488" y="2414016"/>
            <a:ext cx="9731959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850" b="1">
                <a:solidFill>
                  <a:srgbClr val="1A1F29"/>
                </a:solidFill>
                <a:latin typeface="Inter"/>
              </a:rPr>
              <a:t>Chat console.</a:t>
            </a:r>
          </a:p>
          <a:p>
            <a:pPr algn="l">
              <a:lnSpc>
                <a:spcPct val="115000"/>
              </a:lnSpc>
            </a:pPr>
            <a:r>
              <a:rPr sz="1600" b="0">
                <a:solidFill>
                  <a:srgbClr val="545861"/>
                </a:solidFill>
                <a:latin typeface="Inter"/>
              </a:rPr>
              <a:t>Launch a benchmark in one sentence. The chat is a console, not a chatbot.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1248" y="3310128"/>
            <a:ext cx="10509199" cy="10972"/>
          </a:xfrm>
          <a:prstGeom prst="rect">
            <a:avLst/>
          </a:prstGeom>
          <a:solidFill>
            <a:srgbClr val="DDE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3474720"/>
            <a:ext cx="5669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3B5BD4"/>
                </a:solidFill>
                <a:latin typeface="Consola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18488" y="3438144"/>
            <a:ext cx="9731959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850" b="1">
                <a:solidFill>
                  <a:srgbClr val="1A1F29"/>
                </a:solidFill>
                <a:latin typeface="Inter"/>
              </a:rPr>
              <a:t>Live trace feed.</a:t>
            </a:r>
          </a:p>
          <a:p>
            <a:pPr algn="l">
              <a:lnSpc>
                <a:spcPct val="115000"/>
              </a:lnSpc>
            </a:pPr>
            <a:r>
              <a:rPr sz="1600" b="0">
                <a:solidFill>
                  <a:srgbClr val="545861"/>
                </a:solidFill>
                <a:latin typeface="Inter"/>
              </a:rPr>
              <a:t>Every tool call, every docs scrape, every repair attempt, streamed over SSE as it happens.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1248" y="4334256"/>
            <a:ext cx="10509199" cy="10972"/>
          </a:xfrm>
          <a:prstGeom prst="rect">
            <a:avLst/>
          </a:prstGeom>
          <a:solidFill>
            <a:srgbClr val="DDE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4498848"/>
            <a:ext cx="5669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3B5BD4"/>
                </a:solidFill>
                <a:latin typeface="Consola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18488" y="4462272"/>
            <a:ext cx="9731959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850" b="1">
                <a:solidFill>
                  <a:srgbClr val="1A1F29"/>
                </a:solidFill>
                <a:latin typeface="Inter"/>
              </a:rPr>
              <a:t>Per-sandbox terminals.</a:t>
            </a:r>
          </a:p>
          <a:p>
            <a:pPr algn="l">
              <a:lnSpc>
                <a:spcPct val="115000"/>
              </a:lnSpc>
            </a:pPr>
            <a:r>
              <a:rPr sz="1600" b="0">
                <a:solidFill>
                  <a:srgbClr val="545861"/>
                </a:solidFill>
                <a:latin typeface="Inter"/>
              </a:rPr>
              <a:t>Watch each Daytona sandbox build and run, in the open.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1248" y="5358384"/>
            <a:ext cx="10509199" cy="10972"/>
          </a:xfrm>
          <a:prstGeom prst="rect">
            <a:avLst/>
          </a:prstGeom>
          <a:solidFill>
            <a:srgbClr val="DDE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" y="5522976"/>
            <a:ext cx="5669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3B5BD4"/>
                </a:solidFill>
                <a:latin typeface="Consolas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18488" y="5486400"/>
            <a:ext cx="9731959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850" b="1">
                <a:solidFill>
                  <a:srgbClr val="1A1F29"/>
                </a:solidFill>
                <a:latin typeface="Inter"/>
              </a:rPr>
              <a:t>Ranked report.</a:t>
            </a:r>
          </a:p>
          <a:p>
            <a:pPr algn="l">
              <a:lnSpc>
                <a:spcPct val="115000"/>
              </a:lnSpc>
            </a:pPr>
            <a:r>
              <a:rPr sz="1600" b="0">
                <a:solidFill>
                  <a:srgbClr val="545861"/>
                </a:solidFill>
                <a:latin typeface="Inter"/>
              </a:rPr>
              <a:t>Sortable results table plus a citation-backed markdown report, downloadable as PDF. It never invents a number.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1248" y="6382512"/>
            <a:ext cx="10509199" cy="10972"/>
          </a:xfrm>
          <a:prstGeom prst="rect">
            <a:avLst/>
          </a:prstGeom>
          <a:solidFill>
            <a:srgbClr val="DDE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175720" cy="41148"/>
          </a:xfrm>
          <a:prstGeom prst="rect">
            <a:avLst/>
          </a:prstGeom>
          <a:solidFill>
            <a:srgbClr val="3B5B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647395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545861"/>
                </a:solidFill>
                <a:latin typeface="Inter"/>
              </a:rPr>
              <a:t>ProofBench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78847" y="6473952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82868E"/>
                </a:solidFill>
                <a:latin typeface="Consolas"/>
              </a:rPr>
              <a:t>11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777240"/>
            <a:ext cx="10509199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4000" b="1" spc="-60">
                <a:solidFill>
                  <a:srgbClr val="1A1F29"/>
                </a:solidFill>
                <a:latin typeface="Inter"/>
              </a:rPr>
              <a:t>The three-minute demo.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2240280"/>
            <a:ext cx="10509199" cy="10972"/>
          </a:xfrm>
          <a:prstGeom prst="rect">
            <a:avLst/>
          </a:prstGeom>
          <a:solidFill>
            <a:srgbClr val="DDE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404872"/>
            <a:ext cx="5669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3B5BD4"/>
                </a:solidFill>
                <a:latin typeface="Consola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18488" y="2368296"/>
            <a:ext cx="9731959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A1F29"/>
                </a:solidFill>
                <a:latin typeface="Inter"/>
              </a:rPr>
              <a:t>Say what to benchmark.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545861"/>
                </a:solidFill>
                <a:latin typeface="Inter"/>
              </a:rPr>
              <a:t>“Benchmark invoice-extraction tools on my invoices.”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1248" y="3044952"/>
            <a:ext cx="10509199" cy="10972"/>
          </a:xfrm>
          <a:prstGeom prst="rect">
            <a:avLst/>
          </a:prstGeom>
          <a:solidFill>
            <a:srgbClr val="DDE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3209544"/>
            <a:ext cx="5669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3B5BD4"/>
                </a:solidFill>
                <a:latin typeface="Consola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18488" y="3172968"/>
            <a:ext cx="9731959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A1F29"/>
                </a:solidFill>
                <a:latin typeface="Inter"/>
              </a:rPr>
              <a:t>Review the spec.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545861"/>
                </a:solidFill>
                <a:latin typeface="Inter"/>
              </a:rPr>
              <a:t>The agent searches and scrapes docs, then proposes candidates.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1248" y="3849624"/>
            <a:ext cx="10509199" cy="10972"/>
          </a:xfrm>
          <a:prstGeom prst="rect">
            <a:avLst/>
          </a:prstGeom>
          <a:solidFill>
            <a:srgbClr val="DDE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4014215"/>
            <a:ext cx="5669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3B5BD4"/>
                </a:solidFill>
                <a:latin typeface="Consola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18488" y="3977639"/>
            <a:ext cx="9731959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A1F29"/>
                </a:solidFill>
                <a:latin typeface="Inter"/>
              </a:rPr>
              <a:t>Attach data.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545861"/>
                </a:solidFill>
                <a:latin typeface="Inter"/>
              </a:rPr>
              <a:t>The synthetic set of 15 labelled invoices, or upload your own.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1248" y="4654296"/>
            <a:ext cx="10509199" cy="10972"/>
          </a:xfrm>
          <a:prstGeom prst="rect">
            <a:avLst/>
          </a:prstGeom>
          <a:solidFill>
            <a:srgbClr val="DDE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" y="4818888"/>
            <a:ext cx="5669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3B5BD4"/>
                </a:solidFill>
                <a:latin typeface="Consola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18488" y="4782312"/>
            <a:ext cx="9731959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A1F29"/>
                </a:solidFill>
                <a:latin typeface="Inter"/>
              </a:rPr>
              <a:t>Run.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545861"/>
                </a:solidFill>
                <a:latin typeface="Inter"/>
              </a:rPr>
              <a:t>Four Daytona sandboxes build and race in parallel, repairs live on screen.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1248" y="5458968"/>
            <a:ext cx="10509199" cy="10972"/>
          </a:xfrm>
          <a:prstGeom prst="rect">
            <a:avLst/>
          </a:prstGeom>
          <a:solidFill>
            <a:srgbClr val="DDE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" y="5623559"/>
            <a:ext cx="5669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3B5BD4"/>
                </a:solidFill>
                <a:latin typeface="Consolas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18488" y="5586983"/>
            <a:ext cx="9731959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A1F29"/>
                </a:solidFill>
                <a:latin typeface="Inter"/>
              </a:rPr>
              <a:t>Read the verdict.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545861"/>
                </a:solidFill>
                <a:latin typeface="Inter"/>
              </a:rPr>
              <a:t>Ranked deterministic metrics and a citation-backed report.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41248" y="6263640"/>
            <a:ext cx="10509199" cy="10972"/>
          </a:xfrm>
          <a:prstGeom prst="rect">
            <a:avLst/>
          </a:prstGeom>
          <a:solidFill>
            <a:srgbClr val="DDE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3B5B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647395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545861"/>
                </a:solidFill>
                <a:latin typeface="Inter"/>
              </a:rPr>
              <a:t>ProofBench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78847" y="6473952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82868E"/>
                </a:solidFill>
                <a:latin typeface="Consolas"/>
              </a:rPr>
              <a:t>12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920240"/>
            <a:ext cx="109728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600" b="1" spc="-160">
                <a:solidFill>
                  <a:srgbClr val="1A1F29"/>
                </a:solidFill>
                <a:latin typeface="Inter"/>
              </a:rPr>
              <a:t>Proven, not promised.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3520440"/>
            <a:ext cx="99669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>
                <a:solidFill>
                  <a:srgbClr val="1A1F29"/>
                </a:solidFill>
                <a:latin typeface="Inter"/>
              </a:rPr>
              <a:t>ProofBench tells you which tool wins on your documents, with numbers you can defend. </a:t>
            </a:r>
            <a:r>
              <a:rPr sz="1900" b="0">
                <a:solidFill>
                  <a:srgbClr val="545861"/>
                </a:solidFill>
                <a:latin typeface="Inter"/>
              </a:rPr>
              <a:t>Next: any tool category with public docs, and a regression gate for extraction pipelines in CI.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5257800"/>
            <a:ext cx="1050919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82868E"/>
                </a:solidFill>
                <a:latin typeface="Inter"/>
              </a:rPr>
              <a:t>Built on        </a:t>
            </a:r>
            <a:r>
              <a:rPr sz="1300" b="0">
                <a:solidFill>
                  <a:srgbClr val="82868E"/>
                </a:solidFill>
                <a:latin typeface="Inter"/>
              </a:rPr>
              <a:t>Daytona        </a:t>
            </a:r>
            <a:r>
              <a:rPr sz="1300" b="0">
                <a:solidFill>
                  <a:srgbClr val="82868E"/>
                </a:solidFill>
                <a:latin typeface="Inter"/>
              </a:rPr>
              <a:t>Kimi        </a:t>
            </a:r>
            <a:r>
              <a:rPr sz="1300" b="0">
                <a:solidFill>
                  <a:srgbClr val="82868E"/>
                </a:solidFill>
                <a:latin typeface="Inter"/>
              </a:rPr>
              <a:t>Oxylabs        </a:t>
            </a:r>
            <a:r>
              <a:rPr sz="1300" b="0">
                <a:solidFill>
                  <a:srgbClr val="82868E"/>
                </a:solidFill>
                <a:latin typeface="Inter"/>
              </a:rPr>
              <a:t>Doubleword        </a:t>
            </a:r>
            <a:r>
              <a:rPr sz="1300" b="0">
                <a:solidFill>
                  <a:srgbClr val="82868E"/>
                </a:solidFill>
                <a:latin typeface="Inter"/>
              </a:rPr>
              <a:t>Nosana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