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spc="-320">
                <a:solidFill>
                  <a:srgbClr val="1A1F29"/>
                </a:solidFill>
                <a:latin typeface="Inter"/>
              </a:rPr>
              <a:t>ProofBench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9052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A1F29"/>
                </a:solidFill>
                <a:latin typeface="Inter"/>
              </a:rPr>
              <a:t>Agentic benchmarking of any tool, built from its own docs. </a:t>
            </a:r>
            <a:r>
              <a:rPr sz="2100" b="0">
                <a:solidFill>
                  <a:srgbClr val="545861"/>
                </a:solidFill>
                <a:latin typeface="Inter"/>
              </a:rPr>
              <a:t>Point it at a category and a labelled dataset: candidates are discovered, integrated, and run in parallel sandboxes, then scored deterministically against your ground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4924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2868E"/>
                </a:solidFill>
                <a:latin typeface="Inter"/>
              </a:rPr>
              <a:t>Daytona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Oxylabs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Doubleword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Picking a tool is still a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6888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334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59689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Marketing over measurement.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vendor page claims best-in-class performance. None of them show numbers on your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0332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6791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83133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Public benchmarks do not transfer.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Leaderboards run on generic datasets. Your workload is not in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3776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10235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506577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A real eval costs a week.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team hand-builds the same integrations, reruns the same harness, then argues about how to score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17220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>
                <a:solidFill>
                  <a:srgbClr val="545861"/>
                </a:solidFill>
                <a:latin typeface="Inter"/>
              </a:rPr>
              <a:t>Every stack is a chain of tool choices: OCR, parsers, vector stores, inference APIs.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9748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A1F29"/>
                </a:solidFill>
                <a:latin typeface="Inter"/>
              </a:rPr>
              <a:t>A few points of quality become manual review hours. Latency and cost per 1,000 calls decide what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63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spc="-40">
                <a:solidFill>
                  <a:srgbClr val="3B5BD4"/>
                </a:solidFill>
                <a:latin typeface="Inter"/>
              </a:rPr>
              <a:t>The wrong pick compounds. Teams still choose on vibes.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Point it at a category and your labelled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45861"/>
                </a:solidFill>
                <a:latin typeface="Inter"/>
              </a:rPr>
              <a:t>ProofBench returns a </a:t>
            </a:r>
            <a:r>
              <a:rPr sz="2000" b="1">
                <a:solidFill>
                  <a:srgbClr val="1A1F29"/>
                </a:solidFill>
                <a:latin typeface="Inter"/>
              </a:rPr>
              <a:t>ranked, citation-backed verdict</a:t>
            </a:r>
            <a:r>
              <a:rPr sz="2000" b="0">
                <a:solidFill>
                  <a:srgbClr val="545861"/>
                </a:solidFill>
                <a:latin typeface="Inter"/>
              </a:rPr>
              <a:t> on which tool actually performs best on your data. No LLM ever judges correctness; the LLM only does logistics.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Discover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Search for candidate tools in the category.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orchestrator · Oxylabs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308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911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Read the docs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Scrape documentation and pricing pages.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Oxylabs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492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095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Integrate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Generate a working adapter per tool, from its own docs.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Doubleword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676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279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Run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Build and execute every candidate in parallel.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Daytona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60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463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Score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Deterministic metrics against your ground truth.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evaluate.py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79873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Three sponsors, one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03120"/>
            <a:ext cx="10509199" cy="457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03703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203703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Role in ProofBench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56032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715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Daytona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715768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Sandbox fleet. </a:t>
            </a:r>
            <a:r>
              <a:rPr sz="1600" b="0">
                <a:solidFill>
                  <a:srgbClr val="545861"/>
                </a:solidFill>
                <a:latin typeface="Inter"/>
              </a:rPr>
              <a:t>A pre-warmed pool of isolated sandboxes. One per candidate, built and run in parallel.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33756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930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Oxylabs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493008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Docs intel. </a:t>
            </a:r>
            <a:r>
              <a:rPr sz="1600" b="0">
                <a:solidFill>
                  <a:srgbClr val="545861"/>
                </a:solidFill>
                <a:latin typeface="Inter"/>
              </a:rPr>
              <a:t>Google search for candidate discovery, scraping of documentation and pricing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1480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702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Doubleword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270248"/>
            <a:ext cx="77659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Batch inference and codegen. </a:t>
            </a:r>
            <a:r>
              <a:rPr sz="1600" b="0">
                <a:solidFill>
                  <a:srgbClr val="545861"/>
                </a:solidFill>
                <a:latin typeface="Inter"/>
              </a:rPr>
              <a:t>Generates each tool's adapter from its scraped documentation, and batches every LLM request in the pipeline: codegen calls and hosted extraction candidates all run through Doubleword's batch serving. It also competes in the benchmark as a candidate itself.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34924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It reads the docs so you do not have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5577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545861"/>
                </a:solidFill>
                <a:latin typeface="Inter"/>
              </a:rPr>
              <a:t>Give the orchestrator agent a plain-language brief: 'benchmark invoice-extraction tools', or any other category. It searches Google and scrapes documentation and pricing pages with Oxylabs, then proposes an </a:t>
            </a:r>
            <a:r>
              <a:rPr sz="1800" b="1">
                <a:solidFill>
                  <a:srgbClr val="1A1F29"/>
                </a:solidFill>
                <a:latin typeface="Inter"/>
              </a:rPr>
              <a:t>editable spec</a:t>
            </a:r>
            <a:r>
              <a:rPr sz="1800" b="0">
                <a:solidFill>
                  <a:srgbClr val="545861"/>
                </a:solidFill>
                <a:latin typeface="Inter"/>
              </a:rPr>
              <a:t>: candidates, dataset, metrics. You confirm, it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4526280" cy="4389120"/>
          </a:xfrm>
          <a:prstGeom prst="roundRect">
            <a:avLst>
              <a:gd name="adj" fmla="val 45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67335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Proposed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4888" y="2075688"/>
            <a:ext cx="1035100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tesseract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8004" y="2075688"/>
            <a:ext cx="874166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easyocr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0187" y="2075688"/>
            <a:ext cx="1035100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paddleocr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4888" y="2496312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doubleword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8472" y="2496312"/>
            <a:ext cx="1759305" cy="32918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545861"/>
                </a:solidFill>
                <a:latin typeface="Consolas"/>
              </a:rPr>
              <a:t>+ discovered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4888" y="3566160"/>
            <a:ext cx="3941064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3749039"/>
            <a:ext cx="39410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Dataset: </a:t>
            </a:r>
            <a:r>
              <a:rPr sz="1300" b="1">
                <a:solidFill>
                  <a:srgbClr val="1A1F29"/>
                </a:solidFill>
                <a:latin typeface="Inter"/>
              </a:rPr>
              <a:t>data/demo</a:t>
            </a:r>
            <a:r>
              <a:rPr sz="1300" b="0">
                <a:solidFill>
                  <a:srgbClr val="545861"/>
                </a:solidFill>
                <a:latin typeface="Inter"/>
              </a:rPr>
              <a:t>, 15 labelled invoices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Metrics: </a:t>
            </a:r>
            <a:r>
              <a:rPr sz="1300" b="1">
                <a:solidFill>
                  <a:srgbClr val="1A1F29"/>
                </a:solidFill>
                <a:latin typeface="Inter"/>
              </a:rPr>
              <a:t>exact accuracy, field F1, CER, latency, cost</a:t>
            </a:r>
          </a:p>
          <a:p>
            <a:pPr algn="l"/>
            <a:r>
              <a:rPr sz="1300" b="0">
                <a:solidFill>
                  <a:srgbClr val="545861"/>
                </a:solidFill>
                <a:latin typeface="Inter"/>
              </a:rPr>
              <a:t>Demo category: </a:t>
            </a:r>
            <a:r>
              <a:rPr sz="1300" b="1">
                <a:solidFill>
                  <a:srgbClr val="1A1F29"/>
                </a:solidFill>
                <a:latin typeface="Inter"/>
              </a:rPr>
              <a:t>invoice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5074920"/>
            <a:ext cx="1691640" cy="420624"/>
          </a:xfrm>
          <a:prstGeom prst="roundRect">
            <a:avLst>
              <a:gd name="adj" fmla="val 16000"/>
            </a:avLst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50" b="1">
                <a:solidFill>
                  <a:srgbClr val="FAFCFF"/>
                </a:solidFill>
                <a:latin typeface="Inter"/>
              </a:rPr>
              <a:t>Run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11822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Integrations written from each tool's own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545861"/>
                </a:solidFill>
                <a:latin typeface="Inter"/>
              </a:rPr>
              <a:t>Doubleword reads the scraped docs and generates the full adapter: install commands, API calls, and output mapping to </a:t>
            </a:r>
            <a:r>
              <a:rPr sz="1750" b="1">
                <a:solidFill>
                  <a:srgbClr val="1A1F29"/>
                </a:solidFill>
                <a:latin typeface="Inter"/>
              </a:rPr>
              <a:t>one shared contract</a:t>
            </a:r>
            <a:r>
              <a:rPr sz="1750" b="0">
                <a:solidFill>
                  <a:srgbClr val="545861"/>
                </a:solidFill>
                <a:latin typeface="Inter"/>
              </a:rPr>
              <a:t>. The sandbox builds and validates it; a failed build goes back for regeneration.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750" b="0">
                <a:solidFill>
                  <a:srgbClr val="545861"/>
                </a:solidFill>
                <a:latin typeface="Inter"/>
              </a:rPr>
              <a:t>The same Doubleword deployment is also the </a:t>
            </a:r>
            <a:r>
              <a:rPr sz="1750" b="1">
                <a:solidFill>
                  <a:srgbClr val="1A1F29"/>
                </a:solidFill>
                <a:latin typeface="Inter"/>
              </a:rPr>
              <a:t>batch inference layer</a:t>
            </a:r>
            <a:r>
              <a:rPr sz="1750" b="0">
                <a:solidFill>
                  <a:srgbClr val="545861"/>
                </a:solidFill>
                <a:latin typeface="Inter"/>
              </a:rPr>
              <a:t>: every LLM request in a run, from adapter codegen to the hosted extraction candidates, goes out as a batched request through Doubleword.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371600"/>
            <a:ext cx="4526280" cy="3566160"/>
          </a:xfrm>
          <a:prstGeom prst="roundRect">
            <a:avLst>
              <a:gd name="adj" fmla="val 30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645920"/>
            <a:ext cx="3977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82868E"/>
                </a:solidFill>
                <a:latin typeface="Consolas"/>
              </a:rPr>
              <a:t># easyocr adapter (from scraped docs)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3B5BD4"/>
                </a:solidFill>
                <a:latin typeface="Consolas"/>
              </a:rPr>
              <a:t>def</a:t>
            </a:r>
            <a:r>
              <a:rPr sz="1250" b="0">
                <a:solidFill>
                  <a:srgbClr val="1A1F29"/>
                </a:solidFill>
                <a:latin typeface="Consolas"/>
              </a:rPr>
              <a:t> extract(image_path):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reader = easyocr.Reader(["en"])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lines = reader.readtext(image_path)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3B5BD4"/>
                </a:solidFill>
                <a:latin typeface="Consolas"/>
              </a:rPr>
              <a:t>    return</a:t>
            </a:r>
            <a:r>
              <a:rPr sz="1250" b="0">
                <a:solidFill>
                  <a:srgbClr val="1A1F29"/>
                </a:solidFill>
                <a:latin typeface="Consolas"/>
              </a:rPr>
              <a:t> {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"invoice_no": parse_no(lines),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"date":       parse_date(lines),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"total":      parse_total(lines),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Every candidate races in its own Daytona sandbox.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5577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50" b="0">
                <a:solidFill>
                  <a:srgbClr val="545861"/>
                </a:solidFill>
                <a:latin typeface="Inter"/>
              </a:rPr>
              <a:t>A pre-warmed pool builds, validates, and runs candidates </a:t>
            </a:r>
            <a:r>
              <a:rPr sz="1850" b="1">
                <a:solidFill>
                  <a:srgbClr val="1A1F29"/>
                </a:solidFill>
                <a:latin typeface="Inter"/>
              </a:rPr>
              <a:t>in parallel</a:t>
            </a:r>
            <a:r>
              <a:rPr sz="1850" b="0">
                <a:solidFill>
                  <a:srgbClr val="545861"/>
                </a:solidFill>
                <a:latin typeface="Inter"/>
              </a:rPr>
              <a:t>. A failed build triggers self-repair: the agent reads the error, patches the adapter, retries. Every line streams to the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63040"/>
            <a:ext cx="4526280" cy="3063240"/>
          </a:xfrm>
          <a:prstGeom prst="roundRect">
            <a:avLst>
              <a:gd name="adj" fmla="val 45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719072"/>
            <a:ext cx="39776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pip install easyocr torch </a:t>
            </a:r>
            <a:r>
              <a:rPr sz="1250" b="0">
                <a:solidFill>
                  <a:srgbClr val="59C5F5"/>
                </a:solidFill>
                <a:latin typeface="Consolas"/>
              </a:rPr>
              <a:t>building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build ok in 41s </a:t>
            </a:r>
            <a:r>
              <a:rPr sz="1250" b="0">
                <a:solidFill>
                  <a:srgbClr val="EDB345"/>
                </a:solidFill>
                <a:latin typeface="Consolas"/>
              </a:rPr>
              <a:t>validating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tesseract: exit 1 </a:t>
            </a:r>
            <a:r>
              <a:rPr sz="1250" b="0">
                <a:solidFill>
                  <a:srgbClr val="FF847D"/>
                </a:solidFill>
                <a:latin typeface="Consolas"/>
              </a:rPr>
              <a:t>failed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repair 1: adapter patched </a:t>
            </a:r>
            <a:r>
              <a:rPr sz="1250" b="0">
                <a:solidFill>
                  <a:srgbClr val="EDB345"/>
                </a:solidFill>
                <a:latin typeface="Consolas"/>
              </a:rPr>
              <a:t>repair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rebuild ok </a:t>
            </a:r>
            <a:r>
              <a:rPr sz="1250" b="0">
                <a:solidFill>
                  <a:srgbClr val="59C5F5"/>
                </a:solidFill>
                <a:latin typeface="Consolas"/>
              </a:rPr>
              <a:t>running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15/15 docs extracted </a:t>
            </a:r>
            <a:r>
              <a:rPr sz="1250" b="0">
                <a:solidFill>
                  <a:srgbClr val="6AD895"/>
                </a:solidFill>
                <a:latin typeface="Consolas"/>
              </a:rP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3444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Scored by code, never judged by a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752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1">
                <a:solidFill>
                  <a:srgbClr val="1A1F29"/>
                </a:solidFill>
                <a:latin typeface="Consolas"/>
              </a:rPr>
              <a:t>evaluate.py</a:t>
            </a:r>
            <a:r>
              <a:rPr sz="1750" b="0">
                <a:solidFill>
                  <a:srgbClr val="545861"/>
                </a:solidFill>
                <a:latin typeface="Inter"/>
              </a:rPr>
              <a:t> compares every result against your ground truth. Deterministic, offline, reproducible byte-for-byte. The metric set adapts to the category.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97680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40740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exact accuracy   </a:t>
            </a:r>
            <a:r>
              <a:rPr sz="1550" b="0">
                <a:solidFill>
                  <a:srgbClr val="545861"/>
                </a:solidFill>
                <a:latin typeface="Inter"/>
              </a:rPr>
              <a:t>whole-document 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773168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88289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field F1 · CER   </a:t>
            </a:r>
            <a:r>
              <a:rPr sz="1550" b="0">
                <a:solidFill>
                  <a:srgbClr val="545861"/>
                </a:solidFill>
                <a:latin typeface="Inter"/>
              </a:rPr>
              <a:t>per-field and character-level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248656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35838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latency · failure rate · cost/1k   </a:t>
            </a:r>
            <a:r>
              <a:rPr sz="1550" b="0">
                <a:solidFill>
                  <a:srgbClr val="545861"/>
                </a:solidFill>
                <a:latin typeface="Inter"/>
              </a:rPr>
              <a:t>the operational picture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724144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234440"/>
            <a:ext cx="4892040" cy="1993392"/>
          </a:xfrm>
          <a:prstGeom prst="roundRect">
            <a:avLst>
              <a:gd name="adj" fmla="val 30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6248" y="1252728"/>
            <a:ext cx="4855464" cy="32918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1316736"/>
            <a:ext cx="28346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1316736"/>
            <a:ext cx="1078992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45861"/>
                </a:solidFill>
                <a:latin typeface="Inter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316736"/>
            <a:ext cx="530352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316736"/>
            <a:ext cx="46634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316736"/>
            <a:ext cx="46634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316736"/>
            <a:ext cx="585216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1316736"/>
            <a:ext cx="42062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1316736"/>
            <a:ext cx="512063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$/1k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1581912"/>
            <a:ext cx="4855464" cy="402336"/>
          </a:xfrm>
          <a:prstGeom prst="rect">
            <a:avLst/>
          </a:prstGeom>
          <a:solidFill>
            <a:srgbClr val="E7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1682496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1682496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openai_vision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1682496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96.7%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682496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97.5%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682496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0.012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682496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1.18s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1682496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1682496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$7.50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1984248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2084831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084831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doubleword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2084831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94.2%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084831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95.6%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084831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084831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2.41s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2084831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2084831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$2.10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65976" y="2386584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2487168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4" y="2487168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easyocr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2487168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82.5%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487168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86.1%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487168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487168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0.74s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4432" y="2487168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3.3%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87168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$0.00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65976" y="2788920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84264" y="2889503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4304" y="2889503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tesseract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2" y="2889503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77.5%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2889503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81.4%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2889503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0.112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889503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0.31s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2889503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6.7%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1632" y="2889503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$0.00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3300984"/>
            <a:ext cx="5166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2868E"/>
                </a:solidFill>
                <a:latin typeface="Inter"/>
              </a:rPr>
              <a:t>Sample output, invoice-extraction demo category. One of many possible tool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The agent's work is on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28600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414016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Chat console.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Launch a benchmark in one sentence. The chat is a console, not a chatbot.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310128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438144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Live trace feed.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tool call, every docs scrape, every repair attempt, streamed over SSE as it happens.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334256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49884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4462272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Per-sandbox terminals.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Watch each Daytona sandbox build and run, in the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358384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2297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5486400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Ranked report.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Sortable results table plus a citation-backed markdown report, downloadable as PDF. It never invents a number.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75720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The three-minute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24028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368296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Say what to benchmark.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“Benchmark invoice-extraction tools on my invoices.”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044952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20954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172968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Review the spec.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The agent searches and scrapes docs, then proposes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49624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14215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3977639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Attach data.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The synthetic set of 15 labelled invoices, or upload your 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654296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1888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4782312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Run.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Four Daytona sandboxes build and race in parallel, repairs live on screen.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458968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623559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5586983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Read the verdict.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Ranked deterministic metrics and a citation-backed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26364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spc="-160">
                <a:solidFill>
                  <a:srgbClr val="1A1F29"/>
                </a:solidFill>
                <a:latin typeface="Inter"/>
              </a:rPr>
              <a:t>Proven,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A1F29"/>
                </a:solidFill>
                <a:latin typeface="Inter"/>
              </a:rPr>
              <a:t>ProofBench tells you which tool wins on your data, with numbers you can defend. </a:t>
            </a:r>
            <a:r>
              <a:rPr sz="1900" b="0">
                <a:solidFill>
                  <a:srgbClr val="545861"/>
                </a:solidFill>
                <a:latin typeface="Inter"/>
              </a:rPr>
              <a:t>OCR is the demo, not the limit: any tool category with public docs qualifies, and the same loop becomes a regression gate in 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2868E"/>
                </a:solidFill>
                <a:latin typeface="Inter"/>
              </a:rPr>
              <a:t>Built on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Daytona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Oxylabs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Doubleword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