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" cy="41148"/>
          </a:xfrm>
          <a:prstGeom prst="rect">
            <a:avLst/>
          </a:prstGeom>
          <a:solidFill>
            <a:srgbClr val="3B5B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45861"/>
                </a:solidFill>
                <a:latin typeface="Inter"/>
              </a:rPr>
              <a:t>ProofBench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78847" y="647395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2868E"/>
                </a:solidFill>
                <a:latin typeface="Consolas"/>
              </a:rPr>
              <a:t>01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783080"/>
            <a:ext cx="10058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800" b="1" spc="-320">
                <a:solidFill>
                  <a:srgbClr val="1A1F29"/>
                </a:solidFill>
                <a:latin typeface="Inter"/>
              </a:rPr>
              <a:t>ProofBench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429000"/>
            <a:ext cx="90525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100" b="1">
                <a:solidFill>
                  <a:srgbClr val="1A1F29"/>
                </a:solidFill>
                <a:latin typeface="Inter"/>
              </a:rPr>
              <a:t>Agentic benchmarking of any tool, built from its own docs. </a:t>
            </a:r>
            <a:r>
              <a:rPr sz="2100" b="0">
                <a:solidFill>
                  <a:srgbClr val="545861"/>
                </a:solidFill>
                <a:latin typeface="Inter"/>
              </a:rPr>
              <a:t>Point it at a category and a labelled dataset: candidates are discovered, integrated, and run in parallel sandboxes, then scored deterministically against your ground truth.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349240"/>
            <a:ext cx="105091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82868E"/>
                </a:solidFill>
                <a:latin typeface="Inter"/>
              </a:rPr>
              <a:t>Daytona        </a:t>
            </a:r>
            <a:r>
              <a:rPr sz="1300" b="0">
                <a:solidFill>
                  <a:srgbClr val="82868E"/>
                </a:solidFill>
                <a:latin typeface="Inter"/>
              </a:rPr>
              <a:t>Oxylabs        </a:t>
            </a:r>
            <a:r>
              <a:rPr sz="1300" b="0">
                <a:solidFill>
                  <a:srgbClr val="82868E"/>
                </a:solidFill>
                <a:latin typeface="Inter"/>
              </a:rPr>
              <a:t>Doubleword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31949" cy="41148"/>
          </a:xfrm>
          <a:prstGeom prst="rect">
            <a:avLst/>
          </a:prstGeom>
          <a:solidFill>
            <a:srgbClr val="3B5B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45861"/>
                </a:solidFill>
                <a:latin typeface="Inter"/>
              </a:rPr>
              <a:t>ProofBench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78847" y="647395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2868E"/>
                </a:solidFill>
                <a:latin typeface="Consolas"/>
              </a:rPr>
              <a:t>02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50919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000" b="1" spc="-60">
                <a:solidFill>
                  <a:srgbClr val="1A1F29"/>
                </a:solidFill>
                <a:latin typeface="Inter"/>
              </a:rPr>
              <a:t>Picking a tool is still a guess.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468880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633472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B5BD4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" y="2596896"/>
            <a:ext cx="973195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50" b="1">
                <a:solidFill>
                  <a:srgbClr val="1A1F29"/>
                </a:solidFill>
                <a:latin typeface="Inter"/>
              </a:rPr>
              <a:t>Marketing over measurement.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45861"/>
                </a:solidFill>
                <a:latin typeface="Inter"/>
              </a:rPr>
              <a:t>Every vendor page claims best-in-class performance. None of them show numbers on your data.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703320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867912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B5BD4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" y="3831336"/>
            <a:ext cx="973195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50" b="1">
                <a:solidFill>
                  <a:srgbClr val="1A1F29"/>
                </a:solidFill>
                <a:latin typeface="Inter"/>
              </a:rPr>
              <a:t>Public benchmarks do not transfer.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45861"/>
                </a:solidFill>
                <a:latin typeface="Inter"/>
              </a:rPr>
              <a:t>Leaderboards run on generic datasets. Your workload is not in them.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937760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5102352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B5BD4"/>
                </a:solidFill>
                <a:latin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" y="5065776"/>
            <a:ext cx="9731959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50" b="1">
                <a:solidFill>
                  <a:srgbClr val="1A1F29"/>
                </a:solidFill>
                <a:latin typeface="Inter"/>
              </a:rPr>
              <a:t>A real eval costs a week.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45861"/>
                </a:solidFill>
                <a:latin typeface="Inter"/>
              </a:rPr>
              <a:t>Every team hand-builds the same integrations, reruns the same harness, then argues about how to score it.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6172200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047923" cy="41148"/>
          </a:xfrm>
          <a:prstGeom prst="rect">
            <a:avLst/>
          </a:prstGeom>
          <a:solidFill>
            <a:srgbClr val="3B5B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45861"/>
                </a:solidFill>
                <a:latin typeface="Inter"/>
              </a:rPr>
              <a:t>ProofBench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78847" y="647395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2868E"/>
                </a:solidFill>
                <a:latin typeface="Consolas"/>
              </a:rPr>
              <a:t>03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325880"/>
            <a:ext cx="10424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500" b="0">
                <a:solidFill>
                  <a:srgbClr val="545861"/>
                </a:solidFill>
                <a:latin typeface="Inter"/>
              </a:rPr>
              <a:t>Every stack is a chain of tool choices: OCR, parsers, vector stores, inference APIs.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697480"/>
            <a:ext cx="969264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400" b="1">
                <a:solidFill>
                  <a:srgbClr val="1A1F29"/>
                </a:solidFill>
                <a:latin typeface="Inter"/>
              </a:rPr>
              <a:t>A few points of quality become manual review hours. Latency and cost per 1,000 calls decide what ships.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663440"/>
            <a:ext cx="102412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1" spc="-40">
                <a:solidFill>
                  <a:srgbClr val="3B5BD4"/>
                </a:solidFill>
                <a:latin typeface="Inter"/>
              </a:rPr>
              <a:t>The wrong pick compounds. Teams still choose on vibes.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063898" cy="41148"/>
          </a:xfrm>
          <a:prstGeom prst="rect">
            <a:avLst/>
          </a:prstGeom>
          <a:solidFill>
            <a:srgbClr val="3B5B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45861"/>
                </a:solidFill>
                <a:latin typeface="Inter"/>
              </a:rPr>
              <a:t>ProofBench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78847" y="647395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2868E"/>
                </a:solidFill>
                <a:latin typeface="Consolas"/>
              </a:rPr>
              <a:t>04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50919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000" b="1" spc="-60">
                <a:solidFill>
                  <a:srgbClr val="1A1F29"/>
                </a:solidFill>
                <a:latin typeface="Inter"/>
              </a:rPr>
              <a:t>Point it at a category and your labelled dataset.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965960"/>
            <a:ext cx="102412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545861"/>
                </a:solidFill>
                <a:latin typeface="Inter"/>
              </a:rPr>
              <a:t>ProofBench returns a </a:t>
            </a:r>
            <a:r>
              <a:rPr sz="2000" b="1">
                <a:solidFill>
                  <a:srgbClr val="1A1F29"/>
                </a:solidFill>
                <a:latin typeface="Inter"/>
              </a:rPr>
              <a:t>ranked, citation-backed verdict</a:t>
            </a:r>
            <a:r>
              <a:rPr sz="2000" b="0">
                <a:solidFill>
                  <a:srgbClr val="545861"/>
                </a:solidFill>
                <a:latin typeface="Inter"/>
              </a:rPr>
              <a:t> on which tool actually performs best on your data. No LLM ever judges correctness; the LLM only does logistics.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3794760"/>
            <a:ext cx="1717791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B5BD4"/>
                </a:solidFill>
                <a:latin typeface="Consolas"/>
              </a:rPr>
              <a:t>1</a:t>
            </a:r>
          </a:p>
          <a:p>
            <a:pPr algn="l">
              <a:spcAft>
                <a:spcPts val="600"/>
              </a:spcAft>
            </a:pPr>
            <a:r>
              <a:rPr sz="1850" b="1">
                <a:solidFill>
                  <a:srgbClr val="1A1F29"/>
                </a:solidFill>
                <a:latin typeface="Inter"/>
              </a:rPr>
              <a:t>Discover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545861"/>
                </a:solidFill>
                <a:latin typeface="Inter"/>
              </a:rPr>
              <a:t>Search for candidate tools in the category.</a:t>
            </a:r>
          </a:p>
          <a:p>
            <a:pPr algn="l"/>
            <a:r>
              <a:rPr sz="1100" b="0">
                <a:solidFill>
                  <a:srgbClr val="82868E"/>
                </a:solidFill>
                <a:latin typeface="Consolas"/>
              </a:rPr>
              <a:t>orchestrator · Oxylabs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3087" y="3840480"/>
            <a:ext cx="10972" cy="1828800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99119" y="3794760"/>
            <a:ext cx="1717791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B5BD4"/>
                </a:solidFill>
                <a:latin typeface="Consolas"/>
              </a:rPr>
              <a:t>2</a:t>
            </a:r>
          </a:p>
          <a:p>
            <a:pPr algn="l">
              <a:spcAft>
                <a:spcPts val="600"/>
              </a:spcAft>
            </a:pPr>
            <a:r>
              <a:rPr sz="1850" b="1">
                <a:solidFill>
                  <a:srgbClr val="1A1F29"/>
                </a:solidFill>
                <a:latin typeface="Inter"/>
              </a:rPr>
              <a:t>Read the docs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545861"/>
                </a:solidFill>
                <a:latin typeface="Inter"/>
              </a:rPr>
              <a:t>Scrape documentation and pricing pages.</a:t>
            </a:r>
          </a:p>
          <a:p>
            <a:pPr algn="l"/>
            <a:r>
              <a:rPr sz="1100" b="0">
                <a:solidFill>
                  <a:srgbClr val="82868E"/>
                </a:solidFill>
                <a:latin typeface="Consolas"/>
              </a:rPr>
              <a:t>Oxylabs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44927" y="3840480"/>
            <a:ext cx="10972" cy="1828800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0959" y="3794760"/>
            <a:ext cx="1717791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B5BD4"/>
                </a:solidFill>
                <a:latin typeface="Consolas"/>
              </a:rPr>
              <a:t>3</a:t>
            </a:r>
          </a:p>
          <a:p>
            <a:pPr algn="l">
              <a:spcAft>
                <a:spcPts val="600"/>
              </a:spcAft>
            </a:pPr>
            <a:r>
              <a:rPr sz="1850" b="1">
                <a:solidFill>
                  <a:srgbClr val="1A1F29"/>
                </a:solidFill>
                <a:latin typeface="Inter"/>
              </a:rPr>
              <a:t>Integrate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545861"/>
                </a:solidFill>
                <a:latin typeface="Inter"/>
              </a:rPr>
              <a:t>Generate a working adapter per tool, from its own docs.</a:t>
            </a:r>
          </a:p>
          <a:p>
            <a:pPr algn="l"/>
            <a:r>
              <a:rPr sz="1100" b="0">
                <a:solidFill>
                  <a:srgbClr val="82868E"/>
                </a:solidFill>
                <a:latin typeface="Consolas"/>
              </a:rPr>
              <a:t>Doubleword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146767" y="3840480"/>
            <a:ext cx="10972" cy="1828800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2799" y="3794760"/>
            <a:ext cx="1717791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B5BD4"/>
                </a:solidFill>
                <a:latin typeface="Consolas"/>
              </a:rPr>
              <a:t>4</a:t>
            </a:r>
          </a:p>
          <a:p>
            <a:pPr algn="l">
              <a:spcAft>
                <a:spcPts val="600"/>
              </a:spcAft>
            </a:pPr>
            <a:r>
              <a:rPr sz="1850" b="1">
                <a:solidFill>
                  <a:srgbClr val="1A1F29"/>
                </a:solidFill>
                <a:latin typeface="Inter"/>
              </a:rPr>
              <a:t>Run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545861"/>
                </a:solidFill>
                <a:latin typeface="Inter"/>
              </a:rPr>
              <a:t>Build and execute every candidate in parallel.</a:t>
            </a:r>
          </a:p>
          <a:p>
            <a:pPr algn="l"/>
            <a:r>
              <a:rPr sz="1100" b="0">
                <a:solidFill>
                  <a:srgbClr val="82868E"/>
                </a:solidFill>
                <a:latin typeface="Consolas"/>
              </a:rPr>
              <a:t>Daytona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248607" y="3840480"/>
            <a:ext cx="10972" cy="1828800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04639" y="3794760"/>
            <a:ext cx="1717791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1">
                <a:solidFill>
                  <a:srgbClr val="3B5BD4"/>
                </a:solidFill>
                <a:latin typeface="Consolas"/>
              </a:rPr>
              <a:t>5</a:t>
            </a:r>
          </a:p>
          <a:p>
            <a:pPr algn="l">
              <a:spcAft>
                <a:spcPts val="600"/>
              </a:spcAft>
            </a:pPr>
            <a:r>
              <a:rPr sz="1850" b="1">
                <a:solidFill>
                  <a:srgbClr val="1A1F29"/>
                </a:solidFill>
                <a:latin typeface="Inter"/>
              </a:rPr>
              <a:t>Score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300" b="0">
                <a:solidFill>
                  <a:srgbClr val="545861"/>
                </a:solidFill>
                <a:latin typeface="Inter"/>
              </a:rPr>
              <a:t>Deterministic metrics against your ground truth.</a:t>
            </a:r>
          </a:p>
          <a:p>
            <a:pPr algn="l"/>
            <a:r>
              <a:rPr sz="1100" b="0">
                <a:solidFill>
                  <a:srgbClr val="82868E"/>
                </a:solidFill>
                <a:latin typeface="Consolas"/>
              </a:rPr>
              <a:t>evaluate.py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079873" cy="41148"/>
          </a:xfrm>
          <a:prstGeom prst="rect">
            <a:avLst/>
          </a:prstGeom>
          <a:solidFill>
            <a:srgbClr val="3B5B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45861"/>
                </a:solidFill>
                <a:latin typeface="Inter"/>
              </a:rPr>
              <a:t>ProofBench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78847" y="647395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2868E"/>
                </a:solidFill>
                <a:latin typeface="Consolas"/>
              </a:rPr>
              <a:t>05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50919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000" b="1" spc="-60">
                <a:solidFill>
                  <a:srgbClr val="1A1F29"/>
                </a:solidFill>
                <a:latin typeface="Inter"/>
              </a:rPr>
              <a:t>Three integrations, one pipeline.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103120"/>
            <a:ext cx="10509199" cy="45720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203703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45861"/>
                </a:solidFill>
                <a:latin typeface="Inter"/>
              </a:rPr>
              <a:t>Integration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01568" y="2203703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45861"/>
                </a:solidFill>
                <a:latin typeface="Inter"/>
              </a:rPr>
              <a:t>Role in ProofBench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2560320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71576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>
                <a:solidFill>
                  <a:srgbClr val="1A1F29"/>
                </a:solidFill>
                <a:latin typeface="Inter"/>
              </a:rPr>
              <a:t>Daytona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01568" y="2715768"/>
            <a:ext cx="776599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A1F29"/>
                </a:solidFill>
                <a:latin typeface="Inter"/>
              </a:rPr>
              <a:t>Sandbox fleet. </a:t>
            </a:r>
            <a:r>
              <a:rPr sz="1600" b="0">
                <a:solidFill>
                  <a:srgbClr val="545861"/>
                </a:solidFill>
                <a:latin typeface="Inter"/>
              </a:rPr>
              <a:t>A pre-warmed pool of isolated sandboxes. One per candidate, built and run in parallel.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337560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349300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>
                <a:solidFill>
                  <a:srgbClr val="1A1F29"/>
                </a:solidFill>
                <a:latin typeface="Inter"/>
              </a:rPr>
              <a:t>Oxylabs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3493008"/>
            <a:ext cx="7765999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A1F29"/>
                </a:solidFill>
                <a:latin typeface="Inter"/>
              </a:rPr>
              <a:t>Docs intel. </a:t>
            </a:r>
            <a:r>
              <a:rPr sz="1600" b="0">
                <a:solidFill>
                  <a:srgbClr val="545861"/>
                </a:solidFill>
                <a:latin typeface="Inter"/>
              </a:rPr>
              <a:t>Google search for candidate discovery, scraping of documentation and pricing pages.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4114800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24128" y="4270248"/>
            <a:ext cx="2286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50" b="1">
                <a:solidFill>
                  <a:srgbClr val="1A1F29"/>
                </a:solidFill>
                <a:latin typeface="Inter"/>
              </a:rPr>
              <a:t>Doubleword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01568" y="4270248"/>
            <a:ext cx="7765999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</a:pPr>
            <a:r>
              <a:rPr sz="1600" b="1">
                <a:solidFill>
                  <a:srgbClr val="1A1F29"/>
                </a:solidFill>
                <a:latin typeface="Inter"/>
              </a:rPr>
              <a:t>Batch inference and codegen. </a:t>
            </a:r>
            <a:r>
              <a:rPr sz="1600" b="0">
                <a:solidFill>
                  <a:srgbClr val="545861"/>
                </a:solidFill>
                <a:latin typeface="Inter"/>
              </a:rPr>
              <a:t>Generates each tool's adapter from its scraped documentation, and batches every LLM request in the pipeline: codegen calls and hosted extraction candidates all run through Doubleword's batch serving. It also competes in the benchmark as a candidate itself.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5349240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550407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2868E"/>
                </a:solidFill>
                <a:latin typeface="Inter"/>
              </a:rPr>
              <a:t>Third-party names and trademarks identify integrations only and do not imply sponsorship, endorsement, partnership, or affiliation.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5847" cy="41148"/>
          </a:xfrm>
          <a:prstGeom prst="rect">
            <a:avLst/>
          </a:prstGeom>
          <a:solidFill>
            <a:srgbClr val="3B5B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45861"/>
                </a:solidFill>
                <a:latin typeface="Inter"/>
              </a:rPr>
              <a:t>ProofBench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78847" y="647395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2868E"/>
                </a:solidFill>
                <a:latin typeface="Consolas"/>
              </a:rPr>
              <a:t>06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17320"/>
            <a:ext cx="5577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600" b="1" spc="-60">
                <a:solidFill>
                  <a:srgbClr val="1A1F29"/>
                </a:solidFill>
                <a:latin typeface="Inter"/>
              </a:rPr>
              <a:t>It reads the docs so you do not have 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063240"/>
            <a:ext cx="55778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>
                <a:solidFill>
                  <a:srgbClr val="545861"/>
                </a:solidFill>
                <a:latin typeface="Inter"/>
              </a:rPr>
              <a:t>Give the orchestrator agent a plain-language brief: 'benchmark invoice-extraction tools', or any other category. It searches Google and scrapes documentation and pricing pages with Oxylabs, then proposes an </a:t>
            </a:r>
            <a:r>
              <a:rPr sz="1800" b="1">
                <a:solidFill>
                  <a:srgbClr val="1A1F29"/>
                </a:solidFill>
                <a:latin typeface="Inter"/>
              </a:rPr>
              <a:t>editable spec</a:t>
            </a:r>
            <a:r>
              <a:rPr sz="1800" b="0">
                <a:solidFill>
                  <a:srgbClr val="545861"/>
                </a:solidFill>
                <a:latin typeface="Inter"/>
              </a:rPr>
              <a:t>: candidates, dataset, metrics. You confirm, it runs.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1417320"/>
            <a:ext cx="4526280" cy="4389120"/>
          </a:xfrm>
          <a:prstGeom prst="roundRect">
            <a:avLst>
              <a:gd name="adj" fmla="val 4500"/>
            </a:avLst>
          </a:prstGeom>
          <a:solidFill>
            <a:srgbClr val="F9FAFC"/>
          </a:solidFill>
          <a:ln w="9525">
            <a:solidFill>
              <a:srgbClr val="DD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04888" y="1673352"/>
            <a:ext cx="3977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>
                <a:solidFill>
                  <a:srgbClr val="545861"/>
                </a:solidFill>
                <a:latin typeface="Inter"/>
              </a:rPr>
              <a:t>Proposed spec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104888" y="2075688"/>
            <a:ext cx="1035100" cy="329184"/>
          </a:xfrm>
          <a:prstGeom prst="roundRect">
            <a:avLst>
              <a:gd name="adj" fmla="val 50000"/>
            </a:avLst>
          </a:prstGeom>
          <a:solidFill>
            <a:srgbClr val="E7EEFF"/>
          </a:solidFill>
          <a:ln w="9525">
            <a:solidFill>
              <a:srgbClr val="DD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0">
                <a:solidFill>
                  <a:srgbClr val="1A1F29"/>
                </a:solidFill>
                <a:latin typeface="Consolas"/>
              </a:rPr>
              <a:t>tesseract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68004" y="2075688"/>
            <a:ext cx="874166" cy="329184"/>
          </a:xfrm>
          <a:prstGeom prst="roundRect">
            <a:avLst>
              <a:gd name="adj" fmla="val 50000"/>
            </a:avLst>
          </a:prstGeom>
          <a:solidFill>
            <a:srgbClr val="E7EEFF"/>
          </a:solidFill>
          <a:ln w="9525">
            <a:solidFill>
              <a:srgbClr val="DD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0">
                <a:solidFill>
                  <a:srgbClr val="1A1F29"/>
                </a:solidFill>
                <a:latin typeface="Consolas"/>
              </a:rPr>
              <a:t>easyocr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270187" y="2075688"/>
            <a:ext cx="1035100" cy="329184"/>
          </a:xfrm>
          <a:prstGeom prst="roundRect">
            <a:avLst>
              <a:gd name="adj" fmla="val 50000"/>
            </a:avLst>
          </a:prstGeom>
          <a:solidFill>
            <a:srgbClr val="E7EEFF"/>
          </a:solidFill>
          <a:ln w="9525">
            <a:solidFill>
              <a:srgbClr val="DD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0">
                <a:solidFill>
                  <a:srgbClr val="1A1F29"/>
                </a:solidFill>
                <a:latin typeface="Consolas"/>
              </a:rPr>
              <a:t>paddleocr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04888" y="2496312"/>
            <a:ext cx="1115568" cy="329184"/>
          </a:xfrm>
          <a:prstGeom prst="roundRect">
            <a:avLst>
              <a:gd name="adj" fmla="val 50000"/>
            </a:avLst>
          </a:prstGeom>
          <a:solidFill>
            <a:srgbClr val="E7EEFF"/>
          </a:solidFill>
          <a:ln w="9525">
            <a:solidFill>
              <a:srgbClr val="DD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0">
                <a:solidFill>
                  <a:srgbClr val="1A1F29"/>
                </a:solidFill>
                <a:latin typeface="Consolas"/>
              </a:rPr>
              <a:t>doubleword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348472" y="2496312"/>
            <a:ext cx="1759305" cy="329184"/>
          </a:xfrm>
          <a:prstGeom prst="roundRect">
            <a:avLst>
              <a:gd name="adj" fmla="val 50000"/>
            </a:avLst>
          </a:prstGeom>
          <a:solidFill>
            <a:srgbClr val="F4F6F8"/>
          </a:solidFill>
          <a:ln w="9525">
            <a:solidFill>
              <a:srgbClr val="DD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200" b="0">
                <a:solidFill>
                  <a:srgbClr val="545861"/>
                </a:solidFill>
                <a:latin typeface="Consolas"/>
              </a:rPr>
              <a:t>+ discovered tools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04888" y="3566160"/>
            <a:ext cx="3941064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104888" y="3749039"/>
            <a:ext cx="3941064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0">
                <a:solidFill>
                  <a:srgbClr val="545861"/>
                </a:solidFill>
                <a:latin typeface="Inter"/>
              </a:rPr>
              <a:t>Dataset: </a:t>
            </a:r>
            <a:r>
              <a:rPr sz="1300" b="1">
                <a:solidFill>
                  <a:srgbClr val="1A1F29"/>
                </a:solidFill>
                <a:latin typeface="Inter"/>
              </a:rPr>
              <a:t>data/demo</a:t>
            </a:r>
            <a:r>
              <a:rPr sz="1300" b="0">
                <a:solidFill>
                  <a:srgbClr val="545861"/>
                </a:solidFill>
                <a:latin typeface="Inter"/>
              </a:rPr>
              <a:t>, 15 labelled invoices</a:t>
            </a:r>
          </a:p>
          <a:p>
            <a:pPr algn="l">
              <a:spcAft>
                <a:spcPts val="500"/>
              </a:spcAft>
            </a:pPr>
            <a:r>
              <a:rPr sz="1300" b="0">
                <a:solidFill>
                  <a:srgbClr val="545861"/>
                </a:solidFill>
                <a:latin typeface="Inter"/>
              </a:rPr>
              <a:t>Metrics: </a:t>
            </a:r>
            <a:r>
              <a:rPr sz="1300" b="1">
                <a:solidFill>
                  <a:srgbClr val="1A1F29"/>
                </a:solidFill>
                <a:latin typeface="Inter"/>
              </a:rPr>
              <a:t>exact accuracy, field F1, CER, latency, cost</a:t>
            </a:r>
          </a:p>
          <a:p>
            <a:pPr algn="l"/>
            <a:r>
              <a:rPr sz="1300" b="0">
                <a:solidFill>
                  <a:srgbClr val="545861"/>
                </a:solidFill>
                <a:latin typeface="Inter"/>
              </a:rPr>
              <a:t>Demo category: </a:t>
            </a:r>
            <a:r>
              <a:rPr sz="1300" b="1">
                <a:solidFill>
                  <a:srgbClr val="1A1F29"/>
                </a:solidFill>
                <a:latin typeface="Inter"/>
              </a:rPr>
              <a:t>invoice extraction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04888" y="5074920"/>
            <a:ext cx="1691640" cy="420624"/>
          </a:xfrm>
          <a:prstGeom prst="roundRect">
            <a:avLst>
              <a:gd name="adj" fmla="val 16000"/>
            </a:avLst>
          </a:prstGeom>
          <a:solidFill>
            <a:srgbClr val="3B5B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none"/>
          <a:lstStyle/>
          <a:p>
            <a:pPr algn="ctr"/>
            <a:r>
              <a:rPr sz="1350" b="1">
                <a:solidFill>
                  <a:srgbClr val="FAFCFF"/>
                </a:solidFill>
                <a:latin typeface="Inter"/>
              </a:rPr>
              <a:t>Run benchmark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111822" cy="41148"/>
          </a:xfrm>
          <a:prstGeom prst="rect">
            <a:avLst/>
          </a:prstGeom>
          <a:solidFill>
            <a:srgbClr val="3B5B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45861"/>
                </a:solidFill>
                <a:latin typeface="Inter"/>
              </a:rPr>
              <a:t>ProofBench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78847" y="647395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2868E"/>
                </a:solidFill>
                <a:latin typeface="Consolas"/>
              </a:rPr>
              <a:t>07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80160"/>
            <a:ext cx="5577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600" b="1" spc="-60">
                <a:solidFill>
                  <a:srgbClr val="1A1F29"/>
                </a:solidFill>
                <a:latin typeface="Inter"/>
              </a:rPr>
              <a:t>Integrations written from each tool's own documentation.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2880360"/>
            <a:ext cx="55778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50" b="0">
                <a:solidFill>
                  <a:srgbClr val="545861"/>
                </a:solidFill>
                <a:latin typeface="Inter"/>
              </a:rPr>
              <a:t>Doubleword reads the scraped docs and generates the full adapter: install commands, API calls, and output mapping to </a:t>
            </a:r>
            <a:r>
              <a:rPr sz="1750" b="1">
                <a:solidFill>
                  <a:srgbClr val="1A1F29"/>
                </a:solidFill>
                <a:latin typeface="Inter"/>
              </a:rPr>
              <a:t>one shared contract</a:t>
            </a:r>
            <a:r>
              <a:rPr sz="1750" b="0">
                <a:solidFill>
                  <a:srgbClr val="545861"/>
                </a:solidFill>
                <a:latin typeface="Inter"/>
              </a:rPr>
              <a:t>. The sandbox builds and validates it; a failed build goes back for regeneration.</a:t>
            </a:r>
          </a:p>
          <a:p>
            <a:pPr algn="l">
              <a:lnSpc>
                <a:spcPct val="130000"/>
              </a:lnSpc>
              <a:spcBef>
                <a:spcPts val="1400"/>
              </a:spcBef>
            </a:pPr>
            <a:r>
              <a:rPr sz="1750" b="0">
                <a:solidFill>
                  <a:srgbClr val="545861"/>
                </a:solidFill>
                <a:latin typeface="Inter"/>
              </a:rPr>
              <a:t>The same Doubleword deployment is also the </a:t>
            </a:r>
            <a:r>
              <a:rPr sz="1750" b="1">
                <a:solidFill>
                  <a:srgbClr val="1A1F29"/>
                </a:solidFill>
                <a:latin typeface="Inter"/>
              </a:rPr>
              <a:t>batch inference layer</a:t>
            </a:r>
            <a:r>
              <a:rPr sz="1750" b="0">
                <a:solidFill>
                  <a:srgbClr val="545861"/>
                </a:solidFill>
                <a:latin typeface="Inter"/>
              </a:rPr>
              <a:t>: every LLM request in a run, from adapter codegen to the hosted extraction candidates, goes out as a batched request through Doubleword.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1371600"/>
            <a:ext cx="4526280" cy="3566160"/>
          </a:xfrm>
          <a:prstGeom prst="roundRect">
            <a:avLst>
              <a:gd name="adj" fmla="val 3000"/>
            </a:avLst>
          </a:prstGeom>
          <a:solidFill>
            <a:srgbClr val="F9FAFC"/>
          </a:solidFill>
          <a:ln w="9525">
            <a:solidFill>
              <a:srgbClr val="DD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04888" y="1645920"/>
            <a:ext cx="3977640" cy="3108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250" b="0">
                <a:solidFill>
                  <a:srgbClr val="82868E"/>
                </a:solidFill>
                <a:latin typeface="Consolas"/>
              </a:rPr>
              <a:t># easyocr adapter (from scraped docs)</a:t>
            </a:r>
          </a:p>
          <a:p>
            <a:pPr algn="l">
              <a:lnSpc>
                <a:spcPct val="145000"/>
              </a:lnSpc>
            </a:pPr>
            <a:r>
              <a:rPr sz="1250" b="1">
                <a:solidFill>
                  <a:srgbClr val="3B5BD4"/>
                </a:solidFill>
                <a:latin typeface="Consolas"/>
              </a:rPr>
              <a:t>def</a:t>
            </a:r>
            <a:r>
              <a:rPr sz="1250" b="0">
                <a:solidFill>
                  <a:srgbClr val="1A1F29"/>
                </a:solidFill>
                <a:latin typeface="Consolas"/>
              </a:rPr>
              <a:t> extract(image_path):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1A1F29"/>
                </a:solidFill>
                <a:latin typeface="Consolas"/>
              </a:rPr>
              <a:t>    reader = easyocr.Reader(["en"])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1A1F29"/>
                </a:solidFill>
                <a:latin typeface="Consolas"/>
              </a:rPr>
              <a:t>    lines = reader.readtext(image_path)</a:t>
            </a:r>
          </a:p>
          <a:p>
            <a:pPr algn="l">
              <a:lnSpc>
                <a:spcPct val="145000"/>
              </a:lnSpc>
            </a:pPr>
            <a:r>
              <a:rPr sz="1250" b="1">
                <a:solidFill>
                  <a:srgbClr val="3B5BD4"/>
                </a:solidFill>
                <a:latin typeface="Consolas"/>
              </a:rPr>
              <a:t>    return</a:t>
            </a:r>
            <a:r>
              <a:rPr sz="1250" b="0">
                <a:solidFill>
                  <a:srgbClr val="1A1F29"/>
                </a:solidFill>
                <a:latin typeface="Consolas"/>
              </a:rPr>
              <a:t> {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1A1F29"/>
                </a:solidFill>
                <a:latin typeface="Consolas"/>
              </a:rPr>
              <a:t>        "invoice_no": parse_no(lines),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1A1F29"/>
                </a:solidFill>
                <a:latin typeface="Consolas"/>
              </a:rPr>
              <a:t>        "date":       parse_date(lines),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1A1F29"/>
                </a:solidFill>
                <a:latin typeface="Consolas"/>
              </a:rPr>
              <a:t>        "total":      parse_total(lines),</a:t>
            </a:r>
          </a:p>
          <a:p>
            <a:pPr algn="l">
              <a:lnSpc>
                <a:spcPct val="145000"/>
              </a:lnSpc>
            </a:pPr>
            <a:r>
              <a:rPr sz="1250" b="0">
                <a:solidFill>
                  <a:srgbClr val="1A1F29"/>
                </a:solidFill>
                <a:latin typeface="Consolas"/>
              </a:rPr>
              <a:t>    }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8127796" cy="41148"/>
          </a:xfrm>
          <a:prstGeom prst="rect">
            <a:avLst/>
          </a:prstGeom>
          <a:solidFill>
            <a:srgbClr val="3B5B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45861"/>
                </a:solidFill>
                <a:latin typeface="Inter"/>
              </a:rPr>
              <a:t>ProofBench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78847" y="647395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2868E"/>
                </a:solidFill>
                <a:latin typeface="Consolas"/>
              </a:rPr>
              <a:t>08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417320"/>
            <a:ext cx="5577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600" b="1" spc="-60">
                <a:solidFill>
                  <a:srgbClr val="1A1F29"/>
                </a:solidFill>
                <a:latin typeface="Inter"/>
              </a:rPr>
              <a:t>Every candidate races in its own Daytona sandbox.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657600"/>
            <a:ext cx="55778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850" b="0">
                <a:solidFill>
                  <a:srgbClr val="545861"/>
                </a:solidFill>
                <a:latin typeface="Inter"/>
              </a:rPr>
              <a:t>A pre-warmed pool builds, validates, and runs candidates </a:t>
            </a:r>
            <a:r>
              <a:rPr sz="1850" b="1">
                <a:solidFill>
                  <a:srgbClr val="1A1F29"/>
                </a:solidFill>
                <a:latin typeface="Inter"/>
              </a:rPr>
              <a:t>in parallel</a:t>
            </a:r>
            <a:r>
              <a:rPr sz="1850" b="0">
                <a:solidFill>
                  <a:srgbClr val="545861"/>
                </a:solidFill>
                <a:latin typeface="Inter"/>
              </a:rPr>
              <a:t>. A failed build triggers self-repair: the agent reads the error, patches the adapter, retries. Every line streams to the console.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12280" y="1463040"/>
            <a:ext cx="4526280" cy="3063240"/>
          </a:xfrm>
          <a:prstGeom prst="roundRect">
            <a:avLst>
              <a:gd name="adj" fmla="val 4500"/>
            </a:avLst>
          </a:prstGeom>
          <a:solidFill>
            <a:srgbClr val="2126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104888" y="1719072"/>
            <a:ext cx="3977640" cy="2606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829394"/>
                </a:solidFill>
                <a:latin typeface="Consolas"/>
              </a:rPr>
              <a:t>[sb-1]</a:t>
            </a:r>
            <a:r>
              <a:rPr sz="1250" b="0">
                <a:solidFill>
                  <a:srgbClr val="C3D2C9"/>
                </a:solidFill>
                <a:latin typeface="Consolas"/>
              </a:rPr>
              <a:t> pip install easyocr torch </a:t>
            </a:r>
            <a:r>
              <a:rPr sz="1250" b="0">
                <a:solidFill>
                  <a:srgbClr val="59C5F5"/>
                </a:solidFill>
                <a:latin typeface="Consolas"/>
              </a:rPr>
              <a:t>building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829394"/>
                </a:solidFill>
                <a:latin typeface="Consolas"/>
              </a:rPr>
              <a:t>[sb-1]</a:t>
            </a:r>
            <a:r>
              <a:rPr sz="1250" b="0">
                <a:solidFill>
                  <a:srgbClr val="C3D2C9"/>
                </a:solidFill>
                <a:latin typeface="Consolas"/>
              </a:rPr>
              <a:t> build ok in 41s </a:t>
            </a:r>
            <a:r>
              <a:rPr sz="1250" b="0">
                <a:solidFill>
                  <a:srgbClr val="EDB345"/>
                </a:solidFill>
                <a:latin typeface="Consolas"/>
              </a:rPr>
              <a:t>validating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829394"/>
                </a:solidFill>
                <a:latin typeface="Consolas"/>
              </a:rPr>
              <a:t>[sb-2]</a:t>
            </a:r>
            <a:r>
              <a:rPr sz="1250" b="0">
                <a:solidFill>
                  <a:srgbClr val="C3D2C9"/>
                </a:solidFill>
                <a:latin typeface="Consolas"/>
              </a:rPr>
              <a:t> tesseract: exit 1 </a:t>
            </a:r>
            <a:r>
              <a:rPr sz="1250" b="0">
                <a:solidFill>
                  <a:srgbClr val="FF847D"/>
                </a:solidFill>
                <a:latin typeface="Consolas"/>
              </a:rPr>
              <a:t>failed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829394"/>
                </a:solidFill>
                <a:latin typeface="Consolas"/>
              </a:rPr>
              <a:t>[sb-2]</a:t>
            </a:r>
            <a:r>
              <a:rPr sz="1250" b="0">
                <a:solidFill>
                  <a:srgbClr val="C3D2C9"/>
                </a:solidFill>
                <a:latin typeface="Consolas"/>
              </a:rPr>
              <a:t> repair 1: adapter patched </a:t>
            </a:r>
            <a:r>
              <a:rPr sz="1250" b="0">
                <a:solidFill>
                  <a:srgbClr val="EDB345"/>
                </a:solidFill>
                <a:latin typeface="Consolas"/>
              </a:rPr>
              <a:t>repair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829394"/>
                </a:solidFill>
                <a:latin typeface="Consolas"/>
              </a:rPr>
              <a:t>[sb-2]</a:t>
            </a:r>
            <a:r>
              <a:rPr sz="1250" b="0">
                <a:solidFill>
                  <a:srgbClr val="C3D2C9"/>
                </a:solidFill>
                <a:latin typeface="Consolas"/>
              </a:rPr>
              <a:t> rebuild ok </a:t>
            </a:r>
            <a:r>
              <a:rPr sz="1250" b="0">
                <a:solidFill>
                  <a:srgbClr val="59C5F5"/>
                </a:solidFill>
                <a:latin typeface="Consolas"/>
              </a:rPr>
              <a:t>running</a:t>
            </a:r>
          </a:p>
          <a:p>
            <a:pPr algn="l">
              <a:lnSpc>
                <a:spcPct val="150000"/>
              </a:lnSpc>
            </a:pPr>
            <a:r>
              <a:rPr sz="1250" b="0">
                <a:solidFill>
                  <a:srgbClr val="829394"/>
                </a:solidFill>
                <a:latin typeface="Consolas"/>
              </a:rPr>
              <a:t>[sb-1]</a:t>
            </a:r>
            <a:r>
              <a:rPr sz="1250" b="0">
                <a:solidFill>
                  <a:srgbClr val="C3D2C9"/>
                </a:solidFill>
                <a:latin typeface="Consolas"/>
              </a:rPr>
              <a:t> 15/15 docs extracted </a:t>
            </a:r>
            <a:r>
              <a:rPr sz="1250" b="0">
                <a:solidFill>
                  <a:srgbClr val="6AD895"/>
                </a:solidFill>
                <a:latin typeface="Consolas"/>
              </a:rPr>
              <a:t>done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3771" cy="41148"/>
          </a:xfrm>
          <a:prstGeom prst="rect">
            <a:avLst/>
          </a:prstGeom>
          <a:solidFill>
            <a:srgbClr val="3B5B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45861"/>
                </a:solidFill>
                <a:latin typeface="Inter"/>
              </a:rPr>
              <a:t>ProofBench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78847" y="647395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2868E"/>
                </a:solidFill>
                <a:latin typeface="Consolas"/>
              </a:rPr>
              <a:t>09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234440"/>
            <a:ext cx="55778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3600" b="1" spc="-60">
                <a:solidFill>
                  <a:srgbClr val="1A1F29"/>
                </a:solidFill>
                <a:latin typeface="Inter"/>
              </a:rPr>
              <a:t>Scored by code, never judged by a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017520"/>
            <a:ext cx="55778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750" b="1">
                <a:solidFill>
                  <a:srgbClr val="1A1F29"/>
                </a:solidFill>
                <a:latin typeface="Consolas"/>
              </a:rPr>
              <a:t>evaluate.py</a:t>
            </a:r>
            <a:r>
              <a:rPr sz="1750" b="0">
                <a:solidFill>
                  <a:srgbClr val="545861"/>
                </a:solidFill>
                <a:latin typeface="Inter"/>
              </a:rPr>
              <a:t> compares every result against your ground truth. Deterministic, offline, reproducible byte-for-byte. The metric set adapts to the category.</a:t>
            </a:r>
          </a:p>
        </p:txBody>
      </p:sp>
      <p:sp>
        <p:nvSpPr>
          <p:cNvPr id="7" name="Rectangle 6"/>
          <p:cNvSpPr/>
          <p:nvPr/>
        </p:nvSpPr>
        <p:spPr>
          <a:xfrm>
            <a:off x="841248" y="4297680"/>
            <a:ext cx="5577840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4407408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1F29"/>
                </a:solidFill>
                <a:latin typeface="Consolas"/>
              </a:rPr>
              <a:t>exact accuracy   </a:t>
            </a:r>
            <a:r>
              <a:rPr sz="1550" b="0">
                <a:solidFill>
                  <a:srgbClr val="545861"/>
                </a:solidFill>
                <a:latin typeface="Inter"/>
              </a:rPr>
              <a:t>whole-document match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4773168"/>
            <a:ext cx="5577840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4882896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1F29"/>
                </a:solidFill>
                <a:latin typeface="Consolas"/>
              </a:rPr>
              <a:t>field F1 · CER   </a:t>
            </a:r>
            <a:r>
              <a:rPr sz="1550" b="0">
                <a:solidFill>
                  <a:srgbClr val="545861"/>
                </a:solidFill>
                <a:latin typeface="Inter"/>
              </a:rPr>
              <a:t>per-field and character-level error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1248" y="5248656"/>
            <a:ext cx="5577840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5358384"/>
            <a:ext cx="5577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>
                <a:solidFill>
                  <a:srgbClr val="1A1F29"/>
                </a:solidFill>
                <a:latin typeface="Consolas"/>
              </a:rPr>
              <a:t>latency · failure rate · cost/1k   </a:t>
            </a:r>
            <a:r>
              <a:rPr sz="1550" b="0">
                <a:solidFill>
                  <a:srgbClr val="545861"/>
                </a:solidFill>
                <a:latin typeface="Inter"/>
              </a:rPr>
              <a:t>the operational picture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41248" y="5724144"/>
            <a:ext cx="5577840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537960" y="1234440"/>
            <a:ext cx="4892040" cy="1993392"/>
          </a:xfrm>
          <a:prstGeom prst="roundRect">
            <a:avLst>
              <a:gd name="adj" fmla="val 3000"/>
            </a:avLst>
          </a:prstGeom>
          <a:solidFill>
            <a:srgbClr val="F9FAFC"/>
          </a:solidFill>
          <a:ln w="9525">
            <a:solidFill>
              <a:srgbClr val="DDE0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56248" y="1252728"/>
            <a:ext cx="4855464" cy="329184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84264" y="1316736"/>
            <a:ext cx="283464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545861"/>
                </a:solidFill>
                <a:latin typeface="Inter"/>
              </a:rPr>
              <a:t>#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04304" y="1316736"/>
            <a:ext cx="1078992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545861"/>
                </a:solidFill>
                <a:latin typeface="Inter"/>
              </a:rPr>
              <a:t>Candidate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19872" y="1316736"/>
            <a:ext cx="530352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545861"/>
                </a:solidFill>
                <a:latin typeface="Inter"/>
              </a:rPr>
              <a:t>Exact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1316736"/>
            <a:ext cx="466344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545861"/>
                </a:solidFill>
                <a:latin typeface="Inter"/>
              </a:rPr>
              <a:t>F1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89720" y="1316736"/>
            <a:ext cx="466344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545861"/>
                </a:solidFill>
                <a:latin typeface="Inter"/>
              </a:rPr>
              <a:t>CER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92640" y="1316736"/>
            <a:ext cx="585216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545861"/>
                </a:solidFill>
                <a:latin typeface="Inter"/>
              </a:rPr>
              <a:t>Latency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14432" y="1316736"/>
            <a:ext cx="420624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545861"/>
                </a:solidFill>
                <a:latin typeface="Inter"/>
              </a:rPr>
              <a:t>Fail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71632" y="1316736"/>
            <a:ext cx="512063" cy="237744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545861"/>
                </a:solidFill>
                <a:latin typeface="Inter"/>
              </a:rPr>
              <a:t>$/1k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56248" y="1581912"/>
            <a:ext cx="4855464" cy="402336"/>
          </a:xfrm>
          <a:prstGeom prst="rect">
            <a:avLst/>
          </a:prstGeom>
          <a:solidFill>
            <a:srgbClr val="E7EE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84264" y="1682496"/>
            <a:ext cx="28346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9"/>
                </a:solidFill>
                <a:latin typeface="Consolas"/>
              </a:rPr>
              <a:t>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04304" y="1682496"/>
            <a:ext cx="107899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1F29"/>
                </a:solidFill>
                <a:latin typeface="Inter"/>
              </a:rPr>
              <a:t>openai_vision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19872" y="1682496"/>
            <a:ext cx="53035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9"/>
                </a:solidFill>
                <a:latin typeface="Consolas"/>
              </a:rPr>
              <a:t>96.7%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0" y="1682496"/>
            <a:ext cx="4663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9"/>
                </a:solidFill>
                <a:latin typeface="Consolas"/>
              </a:rPr>
              <a:t>97.5%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1682496"/>
            <a:ext cx="4663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9"/>
                </a:solidFill>
                <a:latin typeface="Consolas"/>
              </a:rPr>
              <a:t>0.012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692640" y="1682496"/>
            <a:ext cx="585216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9"/>
                </a:solidFill>
                <a:latin typeface="Consolas"/>
              </a:rPr>
              <a:t>1.18s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14432" y="1682496"/>
            <a:ext cx="42062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9"/>
                </a:solidFill>
                <a:latin typeface="Consolas"/>
              </a:rPr>
              <a:t>0.0%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71632" y="1682496"/>
            <a:ext cx="51206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1">
                <a:solidFill>
                  <a:srgbClr val="1A1F29"/>
                </a:solidFill>
                <a:latin typeface="Consolas"/>
              </a:rPr>
              <a:t>$7.50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65976" y="1984248"/>
            <a:ext cx="4636007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84264" y="2084831"/>
            <a:ext cx="28346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04304" y="2084831"/>
            <a:ext cx="107899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1F29"/>
                </a:solidFill>
                <a:latin typeface="Inter"/>
              </a:rPr>
              <a:t>doubleword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19872" y="2084831"/>
            <a:ext cx="53035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94.2%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686800" y="2084831"/>
            <a:ext cx="4663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95.6%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89720" y="2084831"/>
            <a:ext cx="4663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0.021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92640" y="2084831"/>
            <a:ext cx="585216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2.41s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14432" y="2084831"/>
            <a:ext cx="42062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0.0%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771632" y="2084831"/>
            <a:ext cx="51206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$2.10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665976" y="2386584"/>
            <a:ext cx="4636007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684264" y="2487168"/>
            <a:ext cx="28346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3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04304" y="2487168"/>
            <a:ext cx="107899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1F29"/>
                </a:solidFill>
                <a:latin typeface="Inter"/>
              </a:rPr>
              <a:t>easyocr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19872" y="2487168"/>
            <a:ext cx="53035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82.5%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686800" y="2487168"/>
            <a:ext cx="4663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86.1%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89720" y="2487168"/>
            <a:ext cx="4663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0.084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92640" y="2487168"/>
            <a:ext cx="585216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0.74s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14432" y="2487168"/>
            <a:ext cx="42062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3.3%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771632" y="2487168"/>
            <a:ext cx="51206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$0.00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665976" y="2788920"/>
            <a:ext cx="4636007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84264" y="2889503"/>
            <a:ext cx="28346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4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004304" y="2889503"/>
            <a:ext cx="107899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l"/>
            <a:r>
              <a:rPr sz="1150" b="1">
                <a:solidFill>
                  <a:srgbClr val="1A1F29"/>
                </a:solidFill>
                <a:latin typeface="Inter"/>
              </a:rPr>
              <a:t>tesseract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119872" y="2889503"/>
            <a:ext cx="530352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77.5%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686800" y="2889503"/>
            <a:ext cx="4663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81.4%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89720" y="2889503"/>
            <a:ext cx="46634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0.112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9692640" y="2889503"/>
            <a:ext cx="585216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0.31s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14432" y="2889503"/>
            <a:ext cx="420624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6.7%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771632" y="2889503"/>
            <a:ext cx="512063" cy="27432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545861"/>
                </a:solidFill>
                <a:latin typeface="Consolas"/>
              </a:rPr>
              <a:t>$0.00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37960" y="3300984"/>
            <a:ext cx="51663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>
                <a:solidFill>
                  <a:srgbClr val="82868E"/>
                </a:solidFill>
                <a:latin typeface="Inter"/>
              </a:rPr>
              <a:t>Sample output, invoice-extraction demo category. One of many possible tool categories.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159746" cy="41148"/>
          </a:xfrm>
          <a:prstGeom prst="rect">
            <a:avLst/>
          </a:prstGeom>
          <a:solidFill>
            <a:srgbClr val="3B5B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45861"/>
                </a:solidFill>
                <a:latin typeface="Inter"/>
              </a:rPr>
              <a:t>ProofBench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78847" y="647395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2868E"/>
                </a:solidFill>
                <a:latin typeface="Consolas"/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50919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000" b="1" spc="-60">
                <a:solidFill>
                  <a:srgbClr val="1A1F29"/>
                </a:solidFill>
                <a:latin typeface="Inter"/>
              </a:rPr>
              <a:t>The agent's work is on stage.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286000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450592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B5BD4"/>
                </a:solidFill>
                <a:latin typeface="Consolas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" y="2414016"/>
            <a:ext cx="97319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50" b="1">
                <a:solidFill>
                  <a:srgbClr val="1A1F29"/>
                </a:solidFill>
                <a:latin typeface="Inter"/>
              </a:rPr>
              <a:t>Chat console.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45861"/>
                </a:solidFill>
                <a:latin typeface="Inter"/>
              </a:rPr>
              <a:t>Launch a benchmark in one sentence. The chat is a console, not a chatbot.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310128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474720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B5BD4"/>
                </a:solidFill>
                <a:latin typeface="Consolas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" y="3438144"/>
            <a:ext cx="97319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50" b="1">
                <a:solidFill>
                  <a:srgbClr val="1A1F29"/>
                </a:solidFill>
                <a:latin typeface="Inter"/>
              </a:rPr>
              <a:t>Live trace feed.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45861"/>
                </a:solidFill>
                <a:latin typeface="Inter"/>
              </a:rPr>
              <a:t>Every tool call, every docs scrape, every repair attempt, streamed over SSE as it happens.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4334256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498848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B5BD4"/>
                </a:solidFill>
                <a:latin typeface="Consolas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" y="4462272"/>
            <a:ext cx="97319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50" b="1">
                <a:solidFill>
                  <a:srgbClr val="1A1F29"/>
                </a:solidFill>
                <a:latin typeface="Inter"/>
              </a:rPr>
              <a:t>Per-sandbox terminals.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45861"/>
                </a:solidFill>
                <a:latin typeface="Inter"/>
              </a:rPr>
              <a:t>Watch each Daytona sandbox build and run, in the open.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5358384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5522976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B5BD4"/>
                </a:solidFill>
                <a:latin typeface="Consolas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18488" y="5486400"/>
            <a:ext cx="9731959" cy="8412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850" b="1">
                <a:solidFill>
                  <a:srgbClr val="1A1F29"/>
                </a:solidFill>
                <a:latin typeface="Inter"/>
              </a:rPr>
              <a:t>Ranked report.</a:t>
            </a:r>
          </a:p>
          <a:p>
            <a:pPr algn="l">
              <a:lnSpc>
                <a:spcPct val="115000"/>
              </a:lnSpc>
            </a:pPr>
            <a:r>
              <a:rPr sz="1600" b="0">
                <a:solidFill>
                  <a:srgbClr val="545861"/>
                </a:solidFill>
                <a:latin typeface="Inter"/>
              </a:rPr>
              <a:t>Sortable results table plus a citation-backed markdown report, downloadable as PDF. It never invents a number.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6382512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175720" cy="41148"/>
          </a:xfrm>
          <a:prstGeom prst="rect">
            <a:avLst/>
          </a:prstGeom>
          <a:solidFill>
            <a:srgbClr val="3B5B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45861"/>
                </a:solidFill>
                <a:latin typeface="Inter"/>
              </a:rPr>
              <a:t>ProofBench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78847" y="647395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2868E"/>
                </a:solidFill>
                <a:latin typeface="Consolas"/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777240"/>
            <a:ext cx="10509199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</a:pPr>
            <a:r>
              <a:rPr sz="4000" b="1" spc="-60">
                <a:solidFill>
                  <a:srgbClr val="1A1F29"/>
                </a:solidFill>
                <a:latin typeface="Inter"/>
              </a:rPr>
              <a:t>The three-minute demo.</a:t>
            </a:r>
          </a:p>
        </p:txBody>
      </p:sp>
      <p:sp>
        <p:nvSpPr>
          <p:cNvPr id="6" name="Rectangle 5"/>
          <p:cNvSpPr/>
          <p:nvPr/>
        </p:nvSpPr>
        <p:spPr>
          <a:xfrm>
            <a:off x="841248" y="2240280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2404872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B5BD4"/>
                </a:solidFill>
                <a:latin typeface="Consola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18488" y="2368296"/>
            <a:ext cx="973195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A1F29"/>
                </a:solidFill>
                <a:latin typeface="Inter"/>
              </a:rPr>
              <a:t>Say what to benchmark.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45861"/>
                </a:solidFill>
                <a:latin typeface="Inter"/>
              </a:rPr>
              <a:t>“Benchmark invoice-extraction tools on my invoices.”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841248" y="3044952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3209544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B5BD4"/>
                </a:solidFill>
                <a:latin typeface="Consolas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18488" y="3172968"/>
            <a:ext cx="973195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A1F29"/>
                </a:solidFill>
                <a:latin typeface="Inter"/>
              </a:rPr>
              <a:t>Review the spec.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45861"/>
                </a:solidFill>
                <a:latin typeface="Inter"/>
              </a:rPr>
              <a:t>The agent searches and scrapes docs, then proposes candidates.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" y="3849624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4014215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B5BD4"/>
                </a:solidFill>
                <a:latin typeface="Consolas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18488" y="3977639"/>
            <a:ext cx="973195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A1F29"/>
                </a:solidFill>
                <a:latin typeface="Inter"/>
              </a:rPr>
              <a:t>Attach data.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45861"/>
                </a:solidFill>
                <a:latin typeface="Inter"/>
              </a:rPr>
              <a:t>The synthetic set of 15 labelled invoices, or upload your own.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" y="4654296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4818888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B5BD4"/>
                </a:solidFill>
                <a:latin typeface="Consolas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18488" y="4782312"/>
            <a:ext cx="973195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A1F29"/>
                </a:solidFill>
                <a:latin typeface="Inter"/>
              </a:rPr>
              <a:t>Run.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45861"/>
                </a:solidFill>
                <a:latin typeface="Inter"/>
              </a:rPr>
              <a:t>Four Daytona sandboxes build and race in parallel, repairs live on screen.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" y="5458968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5623559"/>
            <a:ext cx="56692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3B5BD4"/>
                </a:solidFill>
                <a:latin typeface="Consolas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18488" y="5586983"/>
            <a:ext cx="9731959" cy="621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700" b="1">
                <a:solidFill>
                  <a:srgbClr val="1A1F29"/>
                </a:solidFill>
                <a:latin typeface="Inter"/>
              </a:rPr>
              <a:t>Read the verdict.</a:t>
            </a:r>
          </a:p>
          <a:p>
            <a:pPr algn="l">
              <a:lnSpc>
                <a:spcPct val="115000"/>
              </a:lnSpc>
            </a:pPr>
            <a:r>
              <a:rPr sz="1500" b="0">
                <a:solidFill>
                  <a:srgbClr val="545861"/>
                </a:solidFill>
                <a:latin typeface="Inter"/>
              </a:rPr>
              <a:t>Ranked deterministic metrics and a citation-backed report.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1248" y="6263640"/>
            <a:ext cx="10509199" cy="10972"/>
          </a:xfrm>
          <a:prstGeom prst="rect">
            <a:avLst/>
          </a:prstGeom>
          <a:solidFill>
            <a:srgbClr val="DDE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C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1148"/>
          </a:xfrm>
          <a:prstGeom prst="rect">
            <a:avLst/>
          </a:prstGeom>
          <a:solidFill>
            <a:srgbClr val="3B5B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41248" y="6473952"/>
            <a:ext cx="1828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>
                <a:solidFill>
                  <a:srgbClr val="545861"/>
                </a:solidFill>
                <a:latin typeface="Inter"/>
              </a:rPr>
              <a:t>ProofBench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978847" y="6473952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82868E"/>
                </a:solidFill>
                <a:latin typeface="Consolas"/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92024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600" b="1" spc="-160">
                <a:solidFill>
                  <a:srgbClr val="1A1F29"/>
                </a:solidFill>
                <a:latin typeface="Inter"/>
              </a:rPr>
              <a:t>Proven, not promised.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3520440"/>
            <a:ext cx="9966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1">
                <a:solidFill>
                  <a:srgbClr val="1A1F29"/>
                </a:solidFill>
                <a:latin typeface="Inter"/>
              </a:rPr>
              <a:t>ProofBench tells you which tool wins on your data, with numbers you can defend. </a:t>
            </a:r>
            <a:r>
              <a:rPr sz="1900" b="0">
                <a:solidFill>
                  <a:srgbClr val="545861"/>
                </a:solidFill>
                <a:latin typeface="Inter"/>
              </a:rPr>
              <a:t>OCR is the demo, not the limit: any tool category with public docs qualifies, and the same loop becomes a regression gate in CI.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5257800"/>
            <a:ext cx="10509199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82868E"/>
                </a:solidFill>
                <a:latin typeface="Inter"/>
              </a:rPr>
              <a:t>Built with        </a:t>
            </a:r>
            <a:r>
              <a:rPr sz="1300" b="0">
                <a:solidFill>
                  <a:srgbClr val="82868E"/>
                </a:solidFill>
                <a:latin typeface="Inter"/>
              </a:rPr>
              <a:t>Daytona        </a:t>
            </a:r>
            <a:r>
              <a:rPr sz="1300" b="0">
                <a:solidFill>
                  <a:srgbClr val="82868E"/>
                </a:solidFill>
                <a:latin typeface="Inter"/>
              </a:rPr>
              <a:t>Oxylabs        </a:t>
            </a:r>
            <a:r>
              <a:rPr sz="1300" b="0">
                <a:solidFill>
                  <a:srgbClr val="82868E"/>
                </a:solidFill>
                <a:latin typeface="Inter"/>
              </a:rPr>
              <a:t>Doubleword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5715000"/>
            <a:ext cx="1050919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>
                <a:solidFill>
                  <a:srgbClr val="82868E"/>
                </a:solidFill>
                <a:latin typeface="Inter"/>
              </a:rPr>
              <a:t>Third-party names and trademarks identify integrations only and do not imply sponsorship, endorsement, partnership, or affiliation.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ProofBench</dc:title>
  <dc:subject>ProofBench hackathon pitch deck</dc:subject>
  <dc:creator>ProofBench</dc:creator>
  <cp:keywords/>
  <dc:description>Product attribution only; third-party names identify integrations and do not imply endorsement.</dc:description>
  <cp:lastModifiedBy>ProofBench</cp:lastModifiedBy>
  <cp:revision>1</cp:revision>
  <dcterms:created xsi:type="dcterms:W3CDTF">2026-07-20T00:00:00Z</dcterms:created>
  <dcterms:modified xsi:type="dcterms:W3CDTF">2026-07-20T00:00:00Z</dcterms:modified>
  <cp:category/>
</cp:coreProperties>
</file>